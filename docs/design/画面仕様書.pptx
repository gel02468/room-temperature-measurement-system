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65" r:id="rId4"/>
    <p:sldId id="269" r:id="rId5"/>
    <p:sldId id="268" r:id="rId6"/>
    <p:sldId id="270" r:id="rId7"/>
    <p:sldId id="267" r:id="rId8"/>
    <p:sldId id="271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6A40"/>
    <a:srgbClr val="D0CEC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CE106-13F6-4A27-9E19-06326CC483AB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9FCE7-5AF9-44AD-ACAA-99685D4CA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8842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D1A33-945A-A710-EE91-FD6CFBE99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1011CA1-6F6C-DB6E-B004-911193A9D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64DFE41-9E41-B138-3F3F-A07B8FD84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9E45A3-9EEE-A1EF-130F-5D018C5BA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9FCE7-5AF9-44AD-ACAA-99685D4CA8D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0993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E7C66-2BB4-AF9F-6F90-007F02F9C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DDB403A-B08F-7F30-1EE0-10AA05D43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DD0F4C-A703-362A-F8E0-F35E480B9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60B4F5-9C94-2246-7028-C554F6F32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9FCE7-5AF9-44AD-ACAA-99685D4CA8D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3483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11981-3C28-0DA3-70C8-A9F6F371B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BEFAD50-95E5-D8BC-2F00-0AA1EBE72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AD59B8B-CFF0-2E01-D140-BB8841B33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気温画面（時間タブ）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4A9A84-F44A-B490-4155-FDB48713C9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9FCE7-5AF9-44AD-ACAA-99685D4CA8D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4701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C88E1-1AB5-8261-E8AE-4C544756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A92F3D7-2785-E85B-F283-B0966365E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2441CA7-DBA8-C3B5-8186-F7A80DFA2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気温画面（時間タブ）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2032B5-2317-ADA4-2845-1ABFC87C2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9FCE7-5AF9-44AD-ACAA-99685D4CA8D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9136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3D68FD-1A8F-BF4E-54AF-2A1BE7CF6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46988D-C917-FECB-C9BA-E351BE3BB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FE3B21-308D-53AA-42BB-7F26945E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01E70B-9073-B2DB-C4E1-43B9FA372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1F570E-6BD3-BCC6-F981-BFF09C44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286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D7F0DE-BD2E-D112-FF02-01FA0404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A10A38-87C5-65BC-355A-6BD4D047F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C05C44-2F72-FEB7-E84C-84D7D34F7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8A94D7-E66C-6273-604A-189835C14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CCE6F7-DC78-A9B7-3D3B-FBF63E49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8342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E51034-C0A5-BFDB-2863-4C16190EE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C065D1-556D-746D-CEC2-6B933C08C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4D4A81-1DEF-9D42-442C-D2D72FA32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653DC5-C8B3-100E-A726-FF427B5E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00E958-0EEC-D661-99E4-E9FDE89F5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918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34C6DF-EA19-9970-1347-3EC6DC77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2166EC-46BF-2E54-FD46-E4EF6CEF5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50F81A-6BB8-F6B3-05E4-D3EF446B6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F57DC5-2583-52AA-6EA1-539BF660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550E4B-3B8C-16BF-162C-4DD1FD8F4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A57EDA-FE69-DEA5-8626-753FC223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011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B0907F-97D5-4614-0FED-5225D730A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22FA87-0AAA-FEB1-4668-63A4F6303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4FCE3B-F0B1-E42A-0330-FFE25A84F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C8EAF96-FDD4-5D2F-C4A2-62661C3AE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22C40C3-D3C8-B8BE-E1C2-01C917A1B4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8F69284-96CA-4A41-7366-216C5C55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E046D58-3E4A-1ED4-A0F6-821A3B3D9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08BBD2E-E9AA-1772-275E-841AA437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795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B0DF08-8C19-7DA9-1758-BF2CA8C06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649E192-CA30-DC5A-C5D0-F28660FF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97A172B-3E4F-9271-2566-00C5E3B1B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77A2552-047C-C063-F227-C9ABF8DA8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334B3B8-3C8E-4ABC-0833-14A2E662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3597ECD-E53E-680C-DB92-249D827C2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6230A8-0466-A2DF-36C2-7B3BD3870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9418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90CAFB-6F8E-CA7B-A6F1-0201FE7B8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916D05-FE2C-E772-773F-768B2A3F7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E1E85F-1433-1B1E-D4E8-625A3D08E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E4C8EF-BBCB-82D3-CFF6-71C5424A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C4B284-35C8-AB44-26B7-7FF89130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1680C0-F01E-93BA-A440-5E1DB18B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9609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E29E03-E03B-05C5-2906-51745CA0D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5571A44-3A73-58B4-392D-3C9D630A95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ECA0CE-B82B-76FC-4D69-273A8A2D7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4554F3-C81C-7C09-9FF6-8503F1E88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FD2097-2CD1-919D-D35F-57E39D6B5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0FCF98-4145-69FA-FE36-B6B683C4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56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748B4A-6EC6-7F0E-FB2C-00C726120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D661871-9A13-2CDB-98E0-B27FE4089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12C7D1-B11B-214C-21E4-8CEA696B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10916D-EAFB-17F0-7342-11B27D294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274D8A-7982-69F9-0E69-E6A048E22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1920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0D63C72-E42B-0FAD-5507-17CEE28CA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F0EAB3-B75A-3E5E-3DCE-33A7EFC3A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81C50A-6B42-8D4B-30FE-49641BF6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9575E5-9E5D-7842-4710-9FF25E2CC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20FD2E-5B6A-7458-C78C-EDF63939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035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9F28AAA-670A-B629-EC4C-05497F10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251D11-6964-65EA-197F-92FA1AB02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55AD20-522B-6929-E2FE-1EE4E9F7F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24320-ECA2-4F1C-B2BB-B36D7417EB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7809A8-C7AC-C31B-E425-8B638CCE6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604BC2-56CD-80C6-A5A4-0D4D175D0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800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4DC5E-B75A-A3D4-6E88-BEBBC5089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kumimoji="1" lang="ja-JP" altLang="en-US" dirty="0"/>
              <a:t>室内環境測定アプリ</a:t>
            </a:r>
            <a:br>
              <a:rPr kumimoji="1" lang="en-US" altLang="ja-JP" dirty="0"/>
            </a:br>
            <a:r>
              <a:rPr kumimoji="1" lang="ja-JP" altLang="en-US" dirty="0"/>
              <a:t>画面仕様書</a:t>
            </a:r>
          </a:p>
        </p:txBody>
      </p:sp>
    </p:spTree>
    <p:extLst>
      <p:ext uri="{BB962C8B-B14F-4D97-AF65-F5344CB8AC3E}">
        <p14:creationId xmlns:p14="http://schemas.microsoft.com/office/powerpoint/2010/main" val="3465403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E42CFA1-715F-A496-A998-467938DAE78F}"/>
              </a:ext>
            </a:extLst>
          </p:cNvPr>
          <p:cNvSpPr/>
          <p:nvPr/>
        </p:nvSpPr>
        <p:spPr>
          <a:xfrm>
            <a:off x="453447" y="381000"/>
            <a:ext cx="11342255" cy="609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C2C4D13-DF08-3423-BA8F-F64EDAFCFD7B}"/>
              </a:ext>
            </a:extLst>
          </p:cNvPr>
          <p:cNvSpPr txBox="1"/>
          <p:nvPr/>
        </p:nvSpPr>
        <p:spPr>
          <a:xfrm>
            <a:off x="720436" y="578328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室内環境計測・通知システム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C57FB570-7F96-124A-2FDE-983CF7C793F2}"/>
              </a:ext>
            </a:extLst>
          </p:cNvPr>
          <p:cNvCxnSpPr/>
          <p:nvPr/>
        </p:nvCxnSpPr>
        <p:spPr>
          <a:xfrm>
            <a:off x="637309" y="1542473"/>
            <a:ext cx="138545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1090562A-FF8E-07D5-DA9D-9FEE1B60A862}"/>
              </a:ext>
            </a:extLst>
          </p:cNvPr>
          <p:cNvSpPr txBox="1"/>
          <p:nvPr/>
        </p:nvSpPr>
        <p:spPr>
          <a:xfrm>
            <a:off x="552118" y="1679020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bg1"/>
                </a:solidFill>
              </a:rPr>
              <a:t>画面一覧</a:t>
            </a:r>
            <a:endParaRPr kumimoji="1" lang="en-US" altLang="ja-JP" sz="1400" b="1" dirty="0">
              <a:solidFill>
                <a:schemeClr val="bg1"/>
              </a:solidFill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4BB478C0-0C93-056C-B409-3164599C5F3A}"/>
              </a:ext>
            </a:extLst>
          </p:cNvPr>
          <p:cNvSpPr txBox="1"/>
          <p:nvPr/>
        </p:nvSpPr>
        <p:spPr>
          <a:xfrm>
            <a:off x="552118" y="2158069"/>
            <a:ext cx="16533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solidFill>
                  <a:schemeClr val="bg1"/>
                </a:solidFill>
              </a:rPr>
              <a:t>リアルタイム環境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時間単位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kumimoji="1"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日単位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通知設定</a:t>
            </a:r>
            <a:endParaRPr kumimoji="1" lang="en-US" altLang="ja-JP" sz="1400" dirty="0">
              <a:solidFill>
                <a:schemeClr val="bg1"/>
              </a:solidFill>
            </a:endParaRP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C70A4207-3C49-06C1-2D00-954AB9575920}"/>
              </a:ext>
            </a:extLst>
          </p:cNvPr>
          <p:cNvSpPr/>
          <p:nvPr/>
        </p:nvSpPr>
        <p:spPr>
          <a:xfrm>
            <a:off x="635245" y="2158069"/>
            <a:ext cx="1570182" cy="273303"/>
          </a:xfrm>
          <a:prstGeom prst="roundRect">
            <a:avLst/>
          </a:prstGeom>
          <a:solidFill>
            <a:srgbClr val="D0CECE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3" name="図 52">
            <a:extLst>
              <a:ext uri="{FF2B5EF4-FFF2-40B4-BE49-F238E27FC236}">
                <a16:creationId xmlns:a16="http://schemas.microsoft.com/office/drawing/2014/main" id="{3C198E00-C2B9-3963-7974-05CCDA896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439" y="649585"/>
            <a:ext cx="336903" cy="369332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C9600BEB-DDEB-DBA6-A965-C19F6D282F18}"/>
              </a:ext>
            </a:extLst>
          </p:cNvPr>
          <p:cNvSpPr txBox="1"/>
          <p:nvPr/>
        </p:nvSpPr>
        <p:spPr>
          <a:xfrm>
            <a:off x="2945246" y="2325707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温度</a:t>
            </a:r>
          </a:p>
        </p:txBody>
      </p: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D958B0E2-30A6-78B2-C6E9-B51A9863CF58}"/>
              </a:ext>
            </a:extLst>
          </p:cNvPr>
          <p:cNvCxnSpPr>
            <a:cxnSpLocks/>
          </p:cNvCxnSpPr>
          <p:nvPr/>
        </p:nvCxnSpPr>
        <p:spPr>
          <a:xfrm>
            <a:off x="3014518" y="2770007"/>
            <a:ext cx="169285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4FCFA89D-A826-88CE-5A8C-A91466A0A16D}"/>
              </a:ext>
            </a:extLst>
          </p:cNvPr>
          <p:cNvSpPr txBox="1"/>
          <p:nvPr/>
        </p:nvSpPr>
        <p:spPr>
          <a:xfrm>
            <a:off x="3097645" y="2967335"/>
            <a:ext cx="1692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室内：　</a:t>
            </a:r>
            <a:r>
              <a:rPr kumimoji="1" lang="en-US" altLang="ja-JP">
                <a:solidFill>
                  <a:schemeClr val="bg1"/>
                </a:solidFill>
              </a:rPr>
              <a:t>20</a:t>
            </a:r>
            <a:r>
              <a:rPr kumimoji="1" lang="ja-JP" altLang="en-US">
                <a:solidFill>
                  <a:schemeClr val="bg1"/>
                </a:solidFill>
              </a:rPr>
              <a:t>℃</a:t>
            </a:r>
            <a:endParaRPr kumimoji="1" lang="en-US" altLang="ja-JP">
              <a:solidFill>
                <a:schemeClr val="bg1"/>
              </a:solidFill>
            </a:endParaRPr>
          </a:p>
          <a:p>
            <a:endParaRPr kumimoji="1" lang="en-US" altLang="ja-JP">
              <a:solidFill>
                <a:schemeClr val="bg1"/>
              </a:solidFill>
            </a:endParaRPr>
          </a:p>
          <a:p>
            <a:r>
              <a:rPr lang="ja-JP" altLang="en-US">
                <a:solidFill>
                  <a:schemeClr val="bg1"/>
                </a:solidFill>
              </a:rPr>
              <a:t>室外</a:t>
            </a:r>
            <a:r>
              <a:rPr lang="ja-JP" altLang="en-US" dirty="0">
                <a:solidFill>
                  <a:schemeClr val="bg1"/>
                </a:solidFill>
              </a:rPr>
              <a:t>：　</a:t>
            </a:r>
            <a:r>
              <a:rPr lang="en-US" altLang="ja-JP">
                <a:solidFill>
                  <a:schemeClr val="bg1"/>
                </a:solidFill>
              </a:rPr>
              <a:t>20</a:t>
            </a:r>
            <a:r>
              <a:rPr lang="ja-JP" altLang="en-US">
                <a:solidFill>
                  <a:schemeClr val="bg1"/>
                </a:solidFill>
              </a:rPr>
              <a:t>℃</a:t>
            </a:r>
            <a:endParaRPr lang="ja-JP" altLang="en-US" dirty="0">
              <a:solidFill>
                <a:schemeClr val="bg1"/>
              </a:solidFill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0D33739F-E244-810F-808C-62B65865F4A1}"/>
              </a:ext>
            </a:extLst>
          </p:cNvPr>
          <p:cNvSpPr txBox="1"/>
          <p:nvPr/>
        </p:nvSpPr>
        <p:spPr>
          <a:xfrm>
            <a:off x="5600700" y="2325683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湿度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385AEAD6-25BA-DD4C-9E3D-E2F246F87544}"/>
              </a:ext>
            </a:extLst>
          </p:cNvPr>
          <p:cNvCxnSpPr>
            <a:cxnSpLocks/>
          </p:cNvCxnSpPr>
          <p:nvPr/>
        </p:nvCxnSpPr>
        <p:spPr>
          <a:xfrm>
            <a:off x="5669972" y="2769983"/>
            <a:ext cx="169285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7BA3F1F5-D668-1D22-447D-257B91BA976D}"/>
              </a:ext>
            </a:extLst>
          </p:cNvPr>
          <p:cNvSpPr txBox="1"/>
          <p:nvPr/>
        </p:nvSpPr>
        <p:spPr>
          <a:xfrm>
            <a:off x="5753099" y="2967311"/>
            <a:ext cx="1692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室内：　</a:t>
            </a:r>
            <a:r>
              <a:rPr lang="en-US" altLang="ja-JP">
                <a:solidFill>
                  <a:schemeClr val="bg1"/>
                </a:solidFill>
              </a:rPr>
              <a:t>5</a:t>
            </a:r>
            <a:r>
              <a:rPr kumimoji="1" lang="en-US" altLang="ja-JP">
                <a:solidFill>
                  <a:schemeClr val="bg1"/>
                </a:solidFill>
              </a:rPr>
              <a:t>0</a:t>
            </a:r>
            <a:r>
              <a:rPr lang="en-US" altLang="ja-JP">
                <a:solidFill>
                  <a:schemeClr val="bg1"/>
                </a:solidFill>
              </a:rPr>
              <a:t>%</a:t>
            </a:r>
            <a:endParaRPr kumimoji="1" lang="en-US" altLang="ja-JP">
              <a:solidFill>
                <a:schemeClr val="bg1"/>
              </a:solidFill>
            </a:endParaRPr>
          </a:p>
          <a:p>
            <a:endParaRPr kumimoji="1" lang="en-US" altLang="ja-JP">
              <a:solidFill>
                <a:schemeClr val="bg1"/>
              </a:solidFill>
            </a:endParaRPr>
          </a:p>
          <a:p>
            <a:r>
              <a:rPr lang="ja-JP" altLang="en-US">
                <a:solidFill>
                  <a:schemeClr val="bg1"/>
                </a:solidFill>
              </a:rPr>
              <a:t>室外</a:t>
            </a:r>
            <a:r>
              <a:rPr lang="ja-JP" altLang="en-US" dirty="0">
                <a:solidFill>
                  <a:schemeClr val="bg1"/>
                </a:solidFill>
              </a:rPr>
              <a:t>：　</a:t>
            </a:r>
            <a:r>
              <a:rPr lang="en-US" altLang="ja-JP">
                <a:solidFill>
                  <a:schemeClr val="bg1"/>
                </a:solidFill>
              </a:rPr>
              <a:t>50%</a:t>
            </a:r>
            <a:endParaRPr lang="ja-JP" altLang="en-US" dirty="0">
              <a:solidFill>
                <a:schemeClr val="bg1"/>
              </a:solidFill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46AEEBF3-84DE-266F-5D3C-0D2F0C8B9F61}"/>
              </a:ext>
            </a:extLst>
          </p:cNvPr>
          <p:cNvSpPr txBox="1"/>
          <p:nvPr/>
        </p:nvSpPr>
        <p:spPr>
          <a:xfrm>
            <a:off x="8325426" y="2332488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気圧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96E07F8B-2DA1-BF82-260D-33E4D008FE79}"/>
              </a:ext>
            </a:extLst>
          </p:cNvPr>
          <p:cNvCxnSpPr>
            <a:cxnSpLocks/>
          </p:cNvCxnSpPr>
          <p:nvPr/>
        </p:nvCxnSpPr>
        <p:spPr>
          <a:xfrm>
            <a:off x="8394698" y="2776788"/>
            <a:ext cx="169285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CBB99CE0-FD71-06E8-28E4-D4954E747E6E}"/>
              </a:ext>
            </a:extLst>
          </p:cNvPr>
          <p:cNvSpPr txBox="1"/>
          <p:nvPr/>
        </p:nvSpPr>
        <p:spPr>
          <a:xfrm>
            <a:off x="8477825" y="2974116"/>
            <a:ext cx="1950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室内：　</a:t>
            </a:r>
            <a:r>
              <a:rPr lang="en-US" altLang="ja-JP">
                <a:solidFill>
                  <a:schemeClr val="bg1"/>
                </a:solidFill>
              </a:rPr>
              <a:t>1013Pa</a:t>
            </a:r>
            <a:endParaRPr kumimoji="1" lang="en-US" altLang="ja-JP">
              <a:solidFill>
                <a:schemeClr val="bg1"/>
              </a:solidFill>
            </a:endParaRPr>
          </a:p>
          <a:p>
            <a:endParaRPr kumimoji="1" lang="en-US" altLang="ja-JP">
              <a:solidFill>
                <a:schemeClr val="bg1"/>
              </a:solidFill>
            </a:endParaRPr>
          </a:p>
          <a:p>
            <a:r>
              <a:rPr lang="ja-JP" altLang="en-US">
                <a:solidFill>
                  <a:schemeClr val="bg1"/>
                </a:solidFill>
              </a:rPr>
              <a:t>室外</a:t>
            </a:r>
            <a:r>
              <a:rPr lang="ja-JP" altLang="en-US" dirty="0">
                <a:solidFill>
                  <a:schemeClr val="bg1"/>
                </a:solidFill>
              </a:rPr>
              <a:t>：　</a:t>
            </a:r>
            <a:r>
              <a:rPr lang="en-US" altLang="ja-JP">
                <a:solidFill>
                  <a:schemeClr val="bg1"/>
                </a:solidFill>
              </a:rPr>
              <a:t>1013Pa</a:t>
            </a:r>
            <a:endParaRPr lang="ja-JP" altLang="en-US" dirty="0">
              <a:solidFill>
                <a:schemeClr val="bg1"/>
              </a:solidFill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99DF005-5007-2FBB-45E5-AB239E6A1B77}"/>
              </a:ext>
            </a:extLst>
          </p:cNvPr>
          <p:cNvSpPr txBox="1"/>
          <p:nvPr/>
        </p:nvSpPr>
        <p:spPr>
          <a:xfrm>
            <a:off x="2857102" y="1542473"/>
            <a:ext cx="35055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>
                <a:solidFill>
                  <a:schemeClr val="bg1"/>
                </a:solidFill>
              </a:rPr>
              <a:t>2026/06/14 19:11:30 </a:t>
            </a:r>
            <a:r>
              <a:rPr lang="ja-JP" altLang="en-US" sz="1400" b="1" dirty="0">
                <a:solidFill>
                  <a:schemeClr val="bg1"/>
                </a:solidFill>
              </a:rPr>
              <a:t>現在の環境</a:t>
            </a:r>
            <a:endParaRPr kumimoji="1" lang="en-US" altLang="ja-JP" sz="1400" b="1" dirty="0">
              <a:solidFill>
                <a:schemeClr val="bg1"/>
              </a:solidFill>
            </a:endParaRP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DDF128BB-92BB-ADA5-CC49-62B98E0977D2}"/>
              </a:ext>
            </a:extLst>
          </p:cNvPr>
          <p:cNvSpPr txBox="1"/>
          <p:nvPr/>
        </p:nvSpPr>
        <p:spPr>
          <a:xfrm>
            <a:off x="2857102" y="4394646"/>
            <a:ext cx="1692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>
                <a:solidFill>
                  <a:schemeClr val="bg1"/>
                </a:solidFill>
              </a:rPr>
              <a:t>今日の天気予報</a:t>
            </a:r>
            <a:endParaRPr kumimoji="1" lang="en-US" altLang="ja-JP" sz="1400" b="1" dirty="0">
              <a:solidFill>
                <a:schemeClr val="bg1"/>
              </a:solidFill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2CE646C8-E4B6-1E66-091B-09410D661670}"/>
              </a:ext>
            </a:extLst>
          </p:cNvPr>
          <p:cNvSpPr txBox="1"/>
          <p:nvPr/>
        </p:nvSpPr>
        <p:spPr>
          <a:xfrm>
            <a:off x="5043009" y="4833089"/>
            <a:ext cx="1115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最高</a:t>
            </a:r>
            <a:r>
              <a:rPr lang="en-US" altLang="ja-JP" dirty="0">
                <a:solidFill>
                  <a:schemeClr val="bg1"/>
                </a:solidFill>
              </a:rPr>
              <a:t>(</a:t>
            </a:r>
            <a:r>
              <a:rPr lang="ja-JP" altLang="en-US" dirty="0">
                <a:solidFill>
                  <a:schemeClr val="bg1"/>
                </a:solidFill>
              </a:rPr>
              <a:t>℃</a:t>
            </a:r>
            <a:r>
              <a:rPr lang="en-US" altLang="ja-JP" dirty="0">
                <a:solidFill>
                  <a:schemeClr val="bg1"/>
                </a:solidFill>
              </a:rPr>
              <a:t>)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39C76A5B-1E5A-D969-07CB-C3558AF37514}"/>
              </a:ext>
            </a:extLst>
          </p:cNvPr>
          <p:cNvSpPr txBox="1"/>
          <p:nvPr/>
        </p:nvSpPr>
        <p:spPr>
          <a:xfrm>
            <a:off x="6878175" y="4833089"/>
            <a:ext cx="1115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最低</a:t>
            </a:r>
            <a:r>
              <a:rPr lang="en-US" altLang="ja-JP" dirty="0">
                <a:solidFill>
                  <a:schemeClr val="bg1"/>
                </a:solidFill>
              </a:rPr>
              <a:t>(</a:t>
            </a:r>
            <a:r>
              <a:rPr lang="ja-JP" altLang="en-US" dirty="0">
                <a:solidFill>
                  <a:schemeClr val="bg1"/>
                </a:solidFill>
              </a:rPr>
              <a:t>℃</a:t>
            </a:r>
            <a:r>
              <a:rPr lang="en-US" altLang="ja-JP" dirty="0">
                <a:solidFill>
                  <a:schemeClr val="bg1"/>
                </a:solidFill>
              </a:rPr>
              <a:t>)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pic>
        <p:nvPicPr>
          <p:cNvPr id="95" name="図 94">
            <a:extLst>
              <a:ext uri="{FF2B5EF4-FFF2-40B4-BE49-F238E27FC236}">
                <a16:creationId xmlns:a16="http://schemas.microsoft.com/office/drawing/2014/main" id="{DCE69316-D460-6945-10D2-495D6695C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600" y="5017755"/>
            <a:ext cx="1115382" cy="995095"/>
          </a:xfrm>
          <a:prstGeom prst="rect">
            <a:avLst/>
          </a:prstGeom>
        </p:spPr>
      </p:pic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C9476BC1-B473-2BD3-59A1-6F8F583CCE15}"/>
              </a:ext>
            </a:extLst>
          </p:cNvPr>
          <p:cNvSpPr txBox="1"/>
          <p:nvPr/>
        </p:nvSpPr>
        <p:spPr>
          <a:xfrm>
            <a:off x="8713341" y="4817521"/>
            <a:ext cx="169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降水確率</a:t>
            </a:r>
            <a:r>
              <a:rPr lang="en-US" altLang="ja-JP" dirty="0">
                <a:solidFill>
                  <a:schemeClr val="bg1"/>
                </a:solidFill>
              </a:rPr>
              <a:t>(%)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D1CEEB3A-7B8D-6898-2CC1-F9CE0778041D}"/>
              </a:ext>
            </a:extLst>
          </p:cNvPr>
          <p:cNvCxnSpPr>
            <a:cxnSpLocks/>
          </p:cNvCxnSpPr>
          <p:nvPr/>
        </p:nvCxnSpPr>
        <p:spPr>
          <a:xfrm>
            <a:off x="5059425" y="5296114"/>
            <a:ext cx="570533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8C3014D-D2E0-81C1-A4B9-17D1192443B0}"/>
              </a:ext>
            </a:extLst>
          </p:cNvPr>
          <p:cNvSpPr txBox="1"/>
          <p:nvPr/>
        </p:nvSpPr>
        <p:spPr>
          <a:xfrm>
            <a:off x="5324718" y="5493188"/>
            <a:ext cx="77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25</a:t>
            </a:r>
            <a:r>
              <a:rPr kumimoji="1" lang="ja-JP" altLang="en-US" dirty="0">
                <a:solidFill>
                  <a:schemeClr val="bg1"/>
                </a:solidFill>
              </a:rPr>
              <a:t>℃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AE2B6B9-54E7-819D-B0D1-4DEDBCE8E10B}"/>
              </a:ext>
            </a:extLst>
          </p:cNvPr>
          <p:cNvSpPr txBox="1"/>
          <p:nvPr/>
        </p:nvSpPr>
        <p:spPr>
          <a:xfrm>
            <a:off x="7231135" y="5493188"/>
            <a:ext cx="77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15</a:t>
            </a:r>
            <a:r>
              <a:rPr kumimoji="1" lang="ja-JP" altLang="en-US" dirty="0">
                <a:solidFill>
                  <a:schemeClr val="bg1"/>
                </a:solidFill>
              </a:rPr>
              <a:t>℃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84A7E47-E349-645D-3377-34C4A6F91F8C}"/>
              </a:ext>
            </a:extLst>
          </p:cNvPr>
          <p:cNvSpPr txBox="1"/>
          <p:nvPr/>
        </p:nvSpPr>
        <p:spPr>
          <a:xfrm>
            <a:off x="9316269" y="5493188"/>
            <a:ext cx="77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20%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218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476C5-FA72-B57D-8E15-EEA11A4C1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A478EE5-6E6E-DFF3-29F4-1396E849D4EE}"/>
              </a:ext>
            </a:extLst>
          </p:cNvPr>
          <p:cNvSpPr/>
          <p:nvPr/>
        </p:nvSpPr>
        <p:spPr>
          <a:xfrm>
            <a:off x="406400" y="424873"/>
            <a:ext cx="11233482" cy="6160655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B106AF7-5B71-E79C-6197-46EDA7B8D3CB}"/>
              </a:ext>
            </a:extLst>
          </p:cNvPr>
          <p:cNvSpPr txBox="1"/>
          <p:nvPr/>
        </p:nvSpPr>
        <p:spPr>
          <a:xfrm>
            <a:off x="665017" y="630533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室内環境計測・通知システム</a:t>
            </a:r>
          </a:p>
        </p:txBody>
      </p:sp>
      <p:sp>
        <p:nvSpPr>
          <p:cNvPr id="17" name="四角形: 上の 2 つの角を丸める 16">
            <a:extLst>
              <a:ext uri="{FF2B5EF4-FFF2-40B4-BE49-F238E27FC236}">
                <a16:creationId xmlns:a16="http://schemas.microsoft.com/office/drawing/2014/main" id="{81952518-EBCB-C974-C5B6-8F4EC74C517B}"/>
              </a:ext>
            </a:extLst>
          </p:cNvPr>
          <p:cNvSpPr/>
          <p:nvPr/>
        </p:nvSpPr>
        <p:spPr>
          <a:xfrm>
            <a:off x="2448667" y="1412756"/>
            <a:ext cx="858981" cy="369333"/>
          </a:xfrm>
          <a:prstGeom prst="round2SameRect">
            <a:avLst/>
          </a:prstGeom>
          <a:solidFill>
            <a:srgbClr val="00B0F0"/>
          </a:solidFill>
          <a:ln w="28575"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</a:rPr>
              <a:t>温度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38FF397-8E09-3717-65B2-D7BEEBE12968}"/>
              </a:ext>
            </a:extLst>
          </p:cNvPr>
          <p:cNvSpPr/>
          <p:nvPr/>
        </p:nvSpPr>
        <p:spPr>
          <a:xfrm>
            <a:off x="2448668" y="1790412"/>
            <a:ext cx="8765310" cy="456738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9E20AFAE-5107-B06D-DD6A-F244466F9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511" y="1993491"/>
            <a:ext cx="174568" cy="24604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D3395C29-CC44-6BB5-69F3-5371D0783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488892" y="1993491"/>
            <a:ext cx="174567" cy="246045"/>
          </a:xfrm>
          <a:prstGeom prst="rect">
            <a:avLst/>
          </a:prstGeom>
        </p:spPr>
      </p:pic>
      <p:sp>
        <p:nvSpPr>
          <p:cNvPr id="26" name="四角形: 上の 2 つの角を丸める 25">
            <a:extLst>
              <a:ext uri="{FF2B5EF4-FFF2-40B4-BE49-F238E27FC236}">
                <a16:creationId xmlns:a16="http://schemas.microsoft.com/office/drawing/2014/main" id="{90200774-43DE-3B35-6D9A-425ADA698C50}"/>
              </a:ext>
            </a:extLst>
          </p:cNvPr>
          <p:cNvSpPr/>
          <p:nvPr/>
        </p:nvSpPr>
        <p:spPr>
          <a:xfrm>
            <a:off x="3404630" y="1410927"/>
            <a:ext cx="858981" cy="369333"/>
          </a:xfrm>
          <a:prstGeom prst="round2Same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bg1"/>
                </a:solidFill>
              </a:rPr>
              <a:t>湿度</a:t>
            </a: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1ED8C5F7-2163-738C-5D9F-65DD631E1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448" y="2566349"/>
            <a:ext cx="6873977" cy="3438546"/>
          </a:xfrm>
          <a:prstGeom prst="rect">
            <a:avLst/>
          </a:prstGeom>
        </p:spPr>
      </p:pic>
      <p:sp>
        <p:nvSpPr>
          <p:cNvPr id="5" name="四角形: 上の 2 つの角を丸める 4">
            <a:extLst>
              <a:ext uri="{FF2B5EF4-FFF2-40B4-BE49-F238E27FC236}">
                <a16:creationId xmlns:a16="http://schemas.microsoft.com/office/drawing/2014/main" id="{99CF96E9-2D25-3743-6929-CD673FD3489A}"/>
              </a:ext>
            </a:extLst>
          </p:cNvPr>
          <p:cNvSpPr/>
          <p:nvPr/>
        </p:nvSpPr>
        <p:spPr>
          <a:xfrm>
            <a:off x="4360593" y="1409951"/>
            <a:ext cx="858981" cy="369333"/>
          </a:xfrm>
          <a:prstGeom prst="round2Same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bg1"/>
                </a:solidFill>
              </a:rPr>
              <a:t>気圧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6A9BD3B-09F8-B888-9661-74EEDEA6E64C}"/>
              </a:ext>
            </a:extLst>
          </p:cNvPr>
          <p:cNvCxnSpPr/>
          <p:nvPr/>
        </p:nvCxnSpPr>
        <p:spPr>
          <a:xfrm>
            <a:off x="637309" y="1542473"/>
            <a:ext cx="138545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8FC894C-5985-7571-4B39-4E9066C5BAC8}"/>
              </a:ext>
            </a:extLst>
          </p:cNvPr>
          <p:cNvSpPr txBox="1"/>
          <p:nvPr/>
        </p:nvSpPr>
        <p:spPr>
          <a:xfrm>
            <a:off x="552118" y="1679020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bg1"/>
                </a:solidFill>
              </a:rPr>
              <a:t>画面一覧</a:t>
            </a:r>
            <a:endParaRPr kumimoji="1" lang="en-US" altLang="ja-JP" sz="1400" b="1" dirty="0">
              <a:solidFill>
                <a:schemeClr val="bg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A9DE9F0-927B-C406-AEBB-8EEF1779450A}"/>
              </a:ext>
            </a:extLst>
          </p:cNvPr>
          <p:cNvSpPr txBox="1"/>
          <p:nvPr/>
        </p:nvSpPr>
        <p:spPr>
          <a:xfrm>
            <a:off x="552118" y="2158069"/>
            <a:ext cx="16533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solidFill>
                  <a:schemeClr val="bg1"/>
                </a:solidFill>
              </a:rPr>
              <a:t>リアルタイム環境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時間単位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kumimoji="1"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日単位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通知設定</a:t>
            </a:r>
            <a:endParaRPr kumimoji="1" lang="en-US" altLang="ja-JP" sz="1400" dirty="0">
              <a:solidFill>
                <a:schemeClr val="bg1"/>
              </a:solidFill>
            </a:endParaRP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73A7461B-BFF6-D17E-6C8C-11A249912C0D}"/>
              </a:ext>
            </a:extLst>
          </p:cNvPr>
          <p:cNvSpPr/>
          <p:nvPr/>
        </p:nvSpPr>
        <p:spPr>
          <a:xfrm>
            <a:off x="593477" y="2602392"/>
            <a:ext cx="1570182" cy="273303"/>
          </a:xfrm>
          <a:prstGeom prst="roundRect">
            <a:avLst/>
          </a:prstGeom>
          <a:solidFill>
            <a:srgbClr val="D0CECE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82E1F360-2199-7EF8-02BC-CD12DB6BC8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7439" y="649585"/>
            <a:ext cx="336903" cy="369332"/>
          </a:xfrm>
          <a:prstGeom prst="rect">
            <a:avLst/>
          </a:prstGeom>
        </p:spPr>
      </p:pic>
      <p:sp>
        <p:nvSpPr>
          <p:cNvPr id="37" name="楕円 36">
            <a:extLst>
              <a:ext uri="{FF2B5EF4-FFF2-40B4-BE49-F238E27FC236}">
                <a16:creationId xmlns:a16="http://schemas.microsoft.com/office/drawing/2014/main" id="{9D381526-FF37-126B-7A28-A4B845CB350B}"/>
              </a:ext>
            </a:extLst>
          </p:cNvPr>
          <p:cNvSpPr/>
          <p:nvPr/>
        </p:nvSpPr>
        <p:spPr>
          <a:xfrm>
            <a:off x="11116045" y="603724"/>
            <a:ext cx="191852" cy="2114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472871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F9934-F9A3-9CA7-E2A0-5B6DE297B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8666282-C220-7591-043A-86CA3FF40A33}"/>
              </a:ext>
            </a:extLst>
          </p:cNvPr>
          <p:cNvSpPr/>
          <p:nvPr/>
        </p:nvSpPr>
        <p:spPr>
          <a:xfrm>
            <a:off x="406400" y="424873"/>
            <a:ext cx="11233482" cy="6160655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0C29700-5B90-370E-F765-9A281A7A9157}"/>
              </a:ext>
            </a:extLst>
          </p:cNvPr>
          <p:cNvSpPr txBox="1"/>
          <p:nvPr/>
        </p:nvSpPr>
        <p:spPr>
          <a:xfrm>
            <a:off x="665017" y="630533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室内環境計測・通知システム</a:t>
            </a:r>
          </a:p>
        </p:txBody>
      </p:sp>
      <p:sp>
        <p:nvSpPr>
          <p:cNvPr id="17" name="四角形: 上の 2 つの角を丸める 16">
            <a:extLst>
              <a:ext uri="{FF2B5EF4-FFF2-40B4-BE49-F238E27FC236}">
                <a16:creationId xmlns:a16="http://schemas.microsoft.com/office/drawing/2014/main" id="{A8A1BC4B-2496-21D2-635E-A49C94AF6A6A}"/>
              </a:ext>
            </a:extLst>
          </p:cNvPr>
          <p:cNvSpPr/>
          <p:nvPr/>
        </p:nvSpPr>
        <p:spPr>
          <a:xfrm>
            <a:off x="2458033" y="1385823"/>
            <a:ext cx="858981" cy="369333"/>
          </a:xfrm>
          <a:prstGeom prst="round2SameRect">
            <a:avLst/>
          </a:prstGeom>
          <a:solidFill>
            <a:srgbClr val="00B0F0"/>
          </a:solidFill>
          <a:ln w="28575"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</a:rPr>
              <a:t>温度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CC839CA-BF94-BDFA-D7F9-95E48E3407D5}"/>
              </a:ext>
            </a:extLst>
          </p:cNvPr>
          <p:cNvSpPr/>
          <p:nvPr/>
        </p:nvSpPr>
        <p:spPr>
          <a:xfrm>
            <a:off x="2458034" y="1763479"/>
            <a:ext cx="8765310" cy="456738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99A8B160-7190-E0D6-5E48-8C2CB2258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877" y="1966558"/>
            <a:ext cx="174568" cy="24604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BA21D39F-CF70-5B7B-9C23-8385EF08F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498258" y="1966558"/>
            <a:ext cx="174567" cy="246045"/>
          </a:xfrm>
          <a:prstGeom prst="rect">
            <a:avLst/>
          </a:prstGeom>
        </p:spPr>
      </p:pic>
      <p:sp>
        <p:nvSpPr>
          <p:cNvPr id="26" name="四角形: 上の 2 つの角を丸める 25">
            <a:extLst>
              <a:ext uri="{FF2B5EF4-FFF2-40B4-BE49-F238E27FC236}">
                <a16:creationId xmlns:a16="http://schemas.microsoft.com/office/drawing/2014/main" id="{B8D59120-2D66-55D2-4FE1-DE6784F78F97}"/>
              </a:ext>
            </a:extLst>
          </p:cNvPr>
          <p:cNvSpPr/>
          <p:nvPr/>
        </p:nvSpPr>
        <p:spPr>
          <a:xfrm>
            <a:off x="3413996" y="1383994"/>
            <a:ext cx="858981" cy="369333"/>
          </a:xfrm>
          <a:prstGeom prst="round2Same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bg1"/>
                </a:solidFill>
              </a:rPr>
              <a:t>湿度</a:t>
            </a: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9C731EBB-4935-43FE-EE16-F86346D70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814" y="2539416"/>
            <a:ext cx="6873977" cy="3438546"/>
          </a:xfrm>
          <a:prstGeom prst="rect">
            <a:avLst/>
          </a:prstGeom>
        </p:spPr>
      </p:pic>
      <p:sp>
        <p:nvSpPr>
          <p:cNvPr id="5" name="四角形: 上の 2 つの角を丸める 4">
            <a:extLst>
              <a:ext uri="{FF2B5EF4-FFF2-40B4-BE49-F238E27FC236}">
                <a16:creationId xmlns:a16="http://schemas.microsoft.com/office/drawing/2014/main" id="{DB3492ED-90DB-457B-672F-DF6F3C16599D}"/>
              </a:ext>
            </a:extLst>
          </p:cNvPr>
          <p:cNvSpPr/>
          <p:nvPr/>
        </p:nvSpPr>
        <p:spPr>
          <a:xfrm>
            <a:off x="4369959" y="1383018"/>
            <a:ext cx="858981" cy="369333"/>
          </a:xfrm>
          <a:prstGeom prst="round2Same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bg1"/>
                </a:solidFill>
              </a:rPr>
              <a:t>気圧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1C4B3B8-865D-22C0-C95C-49FB84140243}"/>
              </a:ext>
            </a:extLst>
          </p:cNvPr>
          <p:cNvCxnSpPr/>
          <p:nvPr/>
        </p:nvCxnSpPr>
        <p:spPr>
          <a:xfrm>
            <a:off x="637309" y="1542473"/>
            <a:ext cx="138545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D80A537-C485-DD6B-E190-7CF3137A3BA4}"/>
              </a:ext>
            </a:extLst>
          </p:cNvPr>
          <p:cNvSpPr txBox="1"/>
          <p:nvPr/>
        </p:nvSpPr>
        <p:spPr>
          <a:xfrm>
            <a:off x="552118" y="1679020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bg1"/>
                </a:solidFill>
              </a:rPr>
              <a:t>画面一覧</a:t>
            </a:r>
            <a:endParaRPr kumimoji="1" lang="en-US" altLang="ja-JP" sz="1400" b="1" dirty="0">
              <a:solidFill>
                <a:schemeClr val="bg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630D88A-6EB8-9638-F151-F62CF52AB2D8}"/>
              </a:ext>
            </a:extLst>
          </p:cNvPr>
          <p:cNvSpPr txBox="1"/>
          <p:nvPr/>
        </p:nvSpPr>
        <p:spPr>
          <a:xfrm>
            <a:off x="552118" y="2158069"/>
            <a:ext cx="16533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solidFill>
                  <a:schemeClr val="bg1"/>
                </a:solidFill>
              </a:rPr>
              <a:t>リアルタイム環境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時間単位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kumimoji="1"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日単位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通知設定</a:t>
            </a:r>
            <a:endParaRPr kumimoji="1" lang="en-US" altLang="ja-JP" sz="1400" dirty="0">
              <a:solidFill>
                <a:schemeClr val="bg1"/>
              </a:solidFill>
            </a:endParaRP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A6E842AC-7C3D-121E-8889-9CE39144F7BA}"/>
              </a:ext>
            </a:extLst>
          </p:cNvPr>
          <p:cNvSpPr/>
          <p:nvPr/>
        </p:nvSpPr>
        <p:spPr>
          <a:xfrm>
            <a:off x="593477" y="2602392"/>
            <a:ext cx="1570182" cy="273303"/>
          </a:xfrm>
          <a:prstGeom prst="roundRect">
            <a:avLst/>
          </a:prstGeom>
          <a:solidFill>
            <a:srgbClr val="D0CECE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18535012-B150-2271-32C4-DE315E4030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7439" y="649585"/>
            <a:ext cx="336903" cy="369332"/>
          </a:xfrm>
          <a:prstGeom prst="rect">
            <a:avLst/>
          </a:prstGeom>
        </p:spPr>
      </p:pic>
      <p:sp>
        <p:nvSpPr>
          <p:cNvPr id="37" name="楕円 36">
            <a:extLst>
              <a:ext uri="{FF2B5EF4-FFF2-40B4-BE49-F238E27FC236}">
                <a16:creationId xmlns:a16="http://schemas.microsoft.com/office/drawing/2014/main" id="{CE7C79C4-440F-9CA4-B056-45FBD98C42DF}"/>
              </a:ext>
            </a:extLst>
          </p:cNvPr>
          <p:cNvSpPr/>
          <p:nvPr/>
        </p:nvSpPr>
        <p:spPr>
          <a:xfrm>
            <a:off x="11116045" y="603724"/>
            <a:ext cx="191852" cy="2114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 b="1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AD1476B-6756-34C7-B6FC-D2E551B1D93C}"/>
              </a:ext>
            </a:extLst>
          </p:cNvPr>
          <p:cNvSpPr/>
          <p:nvPr/>
        </p:nvSpPr>
        <p:spPr>
          <a:xfrm>
            <a:off x="8303782" y="1118432"/>
            <a:ext cx="3099822" cy="4774047"/>
          </a:xfrm>
          <a:prstGeom prst="roundRect">
            <a:avLst>
              <a:gd name="adj" fmla="val 4683"/>
            </a:avLst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978F8F3-9871-A942-C930-6B3EDD6D6080}"/>
              </a:ext>
            </a:extLst>
          </p:cNvPr>
          <p:cNvSpPr txBox="1"/>
          <p:nvPr/>
        </p:nvSpPr>
        <p:spPr>
          <a:xfrm>
            <a:off x="8402907" y="1229038"/>
            <a:ext cx="1653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solidFill>
                  <a:schemeClr val="bg1"/>
                </a:solidFill>
              </a:rPr>
              <a:t>通知</a:t>
            </a:r>
            <a:endParaRPr lang="en-US" altLang="ja-JP" sz="1400" dirty="0">
              <a:solidFill>
                <a:schemeClr val="bg1"/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173CCB8-E7C1-6CD3-E298-B6B8DA0052A3}"/>
              </a:ext>
            </a:extLst>
          </p:cNvPr>
          <p:cNvCxnSpPr>
            <a:cxnSpLocks/>
          </p:cNvCxnSpPr>
          <p:nvPr/>
        </p:nvCxnSpPr>
        <p:spPr>
          <a:xfrm>
            <a:off x="8459397" y="1586026"/>
            <a:ext cx="2836908" cy="1010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0F23C957-22D7-38C1-DA00-9AE2C8CF1F65}"/>
              </a:ext>
            </a:extLst>
          </p:cNvPr>
          <p:cNvSpPr/>
          <p:nvPr/>
        </p:nvSpPr>
        <p:spPr>
          <a:xfrm>
            <a:off x="10597036" y="593183"/>
            <a:ext cx="817707" cy="444031"/>
          </a:xfrm>
          <a:prstGeom prst="roundRect">
            <a:avLst/>
          </a:prstGeom>
          <a:solidFill>
            <a:srgbClr val="D0CECE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BC46AF0-C06E-7DE8-FEEA-07280C90C045}"/>
              </a:ext>
            </a:extLst>
          </p:cNvPr>
          <p:cNvSpPr txBox="1"/>
          <p:nvPr/>
        </p:nvSpPr>
        <p:spPr>
          <a:xfrm>
            <a:off x="8443686" y="1830980"/>
            <a:ext cx="2574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solidFill>
                  <a:schemeClr val="bg1"/>
                </a:solidFill>
              </a:rPr>
              <a:t>● 室内温度が</a:t>
            </a:r>
            <a:r>
              <a:rPr lang="en-US" altLang="ja-JP" sz="1200" dirty="0">
                <a:solidFill>
                  <a:schemeClr val="bg1"/>
                </a:solidFill>
              </a:rPr>
              <a:t>30</a:t>
            </a:r>
            <a:r>
              <a:rPr lang="ja-JP" altLang="en-US" sz="1200" dirty="0">
                <a:solidFill>
                  <a:schemeClr val="bg1"/>
                </a:solidFill>
              </a:rPr>
              <a:t>℃を超えました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688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E6274-34D6-9159-F6D7-60733CB92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43E3253-5397-5846-0B2A-6FF1E0B9742D}"/>
              </a:ext>
            </a:extLst>
          </p:cNvPr>
          <p:cNvSpPr/>
          <p:nvPr/>
        </p:nvSpPr>
        <p:spPr>
          <a:xfrm>
            <a:off x="424872" y="381000"/>
            <a:ext cx="11342255" cy="609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2F76658-54DD-2A9A-F56F-FF53FA761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990" y="2357839"/>
            <a:ext cx="3505689" cy="362953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4F92FAE-2EAE-636F-9A7E-9BB5B8EB6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334" y="2357839"/>
            <a:ext cx="3505689" cy="3649981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37B736C-7CB3-F9AB-4079-862278660DF6}"/>
              </a:ext>
            </a:extLst>
          </p:cNvPr>
          <p:cNvSpPr txBox="1"/>
          <p:nvPr/>
        </p:nvSpPr>
        <p:spPr>
          <a:xfrm>
            <a:off x="720436" y="578328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室内環境計測・通知システム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999991A-768F-426E-3F96-54798731F38E}"/>
              </a:ext>
            </a:extLst>
          </p:cNvPr>
          <p:cNvSpPr txBox="1"/>
          <p:nvPr/>
        </p:nvSpPr>
        <p:spPr>
          <a:xfrm>
            <a:off x="2643951" y="1986797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bg1"/>
                </a:solidFill>
              </a:rPr>
              <a:t>室内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86BA818-5B0A-1407-23D2-F8044E887B66}"/>
              </a:ext>
            </a:extLst>
          </p:cNvPr>
          <p:cNvSpPr txBox="1"/>
          <p:nvPr/>
        </p:nvSpPr>
        <p:spPr>
          <a:xfrm>
            <a:off x="6703334" y="2007247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>
                <a:solidFill>
                  <a:schemeClr val="bg1"/>
                </a:solidFill>
              </a:rPr>
              <a:t>室外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B1A4F88D-8E28-02B3-4829-F0283CD44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6655" y="2378289"/>
            <a:ext cx="161948" cy="3629531"/>
          </a:xfrm>
          <a:prstGeom prst="rect">
            <a:avLst/>
          </a:prstGeom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F415D41-0772-E5E9-0266-D8143A740602}"/>
              </a:ext>
            </a:extLst>
          </p:cNvPr>
          <p:cNvCxnSpPr/>
          <p:nvPr/>
        </p:nvCxnSpPr>
        <p:spPr>
          <a:xfrm>
            <a:off x="637309" y="1542473"/>
            <a:ext cx="138545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C8E030-473D-198C-0C1A-F4B485C5ACAE}"/>
              </a:ext>
            </a:extLst>
          </p:cNvPr>
          <p:cNvSpPr txBox="1"/>
          <p:nvPr/>
        </p:nvSpPr>
        <p:spPr>
          <a:xfrm>
            <a:off x="552118" y="1679020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bg1"/>
                </a:solidFill>
              </a:rPr>
              <a:t>画面一覧</a:t>
            </a:r>
            <a:endParaRPr kumimoji="1" lang="en-US" altLang="ja-JP" sz="1400" b="1" dirty="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9686582-4303-9660-0A37-2592C1492AFA}"/>
              </a:ext>
            </a:extLst>
          </p:cNvPr>
          <p:cNvSpPr txBox="1"/>
          <p:nvPr/>
        </p:nvSpPr>
        <p:spPr>
          <a:xfrm>
            <a:off x="552118" y="2158069"/>
            <a:ext cx="16533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solidFill>
                  <a:schemeClr val="bg1"/>
                </a:solidFill>
              </a:rPr>
              <a:t>リアルタイム環境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時間単位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kumimoji="1"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日単位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通知設定</a:t>
            </a:r>
            <a:endParaRPr kumimoji="1" lang="en-US" altLang="ja-JP" sz="1400" dirty="0">
              <a:solidFill>
                <a:schemeClr val="bg1"/>
              </a:solidFill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DFEA8B9-1684-BFF3-8ADF-8D2B0A1B061B}"/>
              </a:ext>
            </a:extLst>
          </p:cNvPr>
          <p:cNvSpPr/>
          <p:nvPr/>
        </p:nvSpPr>
        <p:spPr>
          <a:xfrm>
            <a:off x="593681" y="3011514"/>
            <a:ext cx="1570182" cy="273303"/>
          </a:xfrm>
          <a:prstGeom prst="roundRect">
            <a:avLst/>
          </a:prstGeom>
          <a:solidFill>
            <a:srgbClr val="D0CECE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A73207FC-5668-C38A-0790-141992142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7439" y="649585"/>
            <a:ext cx="336903" cy="369332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EE1BDCD2-704C-6DD1-0A89-944675519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611" y="1312416"/>
            <a:ext cx="174568" cy="24604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76C60C08-DB31-DE7E-B1C6-6EC2656DD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905742" y="1312416"/>
            <a:ext cx="174567" cy="246045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40C4A28-2612-D5D5-88FC-A4F24A000183}"/>
              </a:ext>
            </a:extLst>
          </p:cNvPr>
          <p:cNvSpPr txBox="1"/>
          <p:nvPr/>
        </p:nvSpPr>
        <p:spPr>
          <a:xfrm>
            <a:off x="7091335" y="1312416"/>
            <a:ext cx="503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</a:rPr>
              <a:t>6</a:t>
            </a:r>
            <a:r>
              <a:rPr lang="ja-JP" altLang="en-US" sz="1400" dirty="0">
                <a:solidFill>
                  <a:schemeClr val="bg1"/>
                </a:solidFill>
              </a:rPr>
              <a:t>月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47E1DBA-B845-D906-1DB1-2E892B1E3CCE}"/>
              </a:ext>
            </a:extLst>
          </p:cNvPr>
          <p:cNvSpPr txBox="1"/>
          <p:nvPr/>
        </p:nvSpPr>
        <p:spPr>
          <a:xfrm>
            <a:off x="6282416" y="1312415"/>
            <a:ext cx="503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00B0F0"/>
                </a:solidFill>
              </a:rPr>
              <a:t>5</a:t>
            </a:r>
            <a:r>
              <a:rPr lang="ja-JP" altLang="en-US" sz="1400" dirty="0">
                <a:solidFill>
                  <a:srgbClr val="00B0F0"/>
                </a:solidFill>
              </a:rPr>
              <a:t>月</a:t>
            </a:r>
            <a:endParaRPr kumimoji="1" lang="ja-JP" altLang="en-US" sz="1400" dirty="0">
              <a:solidFill>
                <a:srgbClr val="00B0F0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93A1918-8EE1-1047-D413-73622E7E4107}"/>
              </a:ext>
            </a:extLst>
          </p:cNvPr>
          <p:cNvSpPr txBox="1"/>
          <p:nvPr/>
        </p:nvSpPr>
        <p:spPr>
          <a:xfrm>
            <a:off x="5468009" y="1312414"/>
            <a:ext cx="503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</a:rPr>
              <a:t>4</a:t>
            </a:r>
            <a:r>
              <a:rPr lang="ja-JP" altLang="en-US" sz="1400" dirty="0">
                <a:solidFill>
                  <a:schemeClr val="bg1"/>
                </a:solidFill>
              </a:rPr>
              <a:t>月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086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17E66-7EAE-EBAF-6CF3-F957369B9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B889802-E576-745D-589A-6504B13928FD}"/>
              </a:ext>
            </a:extLst>
          </p:cNvPr>
          <p:cNvSpPr/>
          <p:nvPr/>
        </p:nvSpPr>
        <p:spPr>
          <a:xfrm>
            <a:off x="424872" y="381000"/>
            <a:ext cx="11342255" cy="609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54E9FC5-5456-0615-6CBD-EB0C3AA89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990" y="2357839"/>
            <a:ext cx="3505689" cy="362953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242DDF9-BD3A-FD2E-EB47-7383295A1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334" y="2357839"/>
            <a:ext cx="3505689" cy="3649981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E962029-ADF0-6104-70B5-8B6E892112DA}"/>
              </a:ext>
            </a:extLst>
          </p:cNvPr>
          <p:cNvSpPr txBox="1"/>
          <p:nvPr/>
        </p:nvSpPr>
        <p:spPr>
          <a:xfrm>
            <a:off x="720436" y="578328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室内環境計測・通知システム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9A404C9-104B-8285-B950-2B7EE3742BC2}"/>
              </a:ext>
            </a:extLst>
          </p:cNvPr>
          <p:cNvSpPr txBox="1"/>
          <p:nvPr/>
        </p:nvSpPr>
        <p:spPr>
          <a:xfrm>
            <a:off x="2643951" y="1986797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bg1"/>
                </a:solidFill>
              </a:rPr>
              <a:t>室内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55ED06F-114A-DEF1-3DE2-989362F7224F}"/>
              </a:ext>
            </a:extLst>
          </p:cNvPr>
          <p:cNvSpPr txBox="1"/>
          <p:nvPr/>
        </p:nvSpPr>
        <p:spPr>
          <a:xfrm>
            <a:off x="6703334" y="2007247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>
                <a:solidFill>
                  <a:schemeClr val="bg1"/>
                </a:solidFill>
              </a:rPr>
              <a:t>室外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38279CFA-0103-D363-A167-08D975798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6655" y="2378289"/>
            <a:ext cx="161948" cy="3629531"/>
          </a:xfrm>
          <a:prstGeom prst="rect">
            <a:avLst/>
          </a:prstGeom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11D18F8-2FBB-66A0-1985-17258E185949}"/>
              </a:ext>
            </a:extLst>
          </p:cNvPr>
          <p:cNvCxnSpPr/>
          <p:nvPr/>
        </p:nvCxnSpPr>
        <p:spPr>
          <a:xfrm>
            <a:off x="637309" y="1542473"/>
            <a:ext cx="138545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55DFD58-A3A4-337B-CFE4-0197441AFD63}"/>
              </a:ext>
            </a:extLst>
          </p:cNvPr>
          <p:cNvSpPr txBox="1"/>
          <p:nvPr/>
        </p:nvSpPr>
        <p:spPr>
          <a:xfrm>
            <a:off x="552118" y="1679020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bg1"/>
                </a:solidFill>
              </a:rPr>
              <a:t>画面一覧</a:t>
            </a:r>
            <a:endParaRPr kumimoji="1" lang="en-US" altLang="ja-JP" sz="1400" b="1" dirty="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A6A9E6D-000E-7EBD-5952-4BA6197DF21F}"/>
              </a:ext>
            </a:extLst>
          </p:cNvPr>
          <p:cNvSpPr txBox="1"/>
          <p:nvPr/>
        </p:nvSpPr>
        <p:spPr>
          <a:xfrm>
            <a:off x="552118" y="2158069"/>
            <a:ext cx="16533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solidFill>
                  <a:schemeClr val="bg1"/>
                </a:solidFill>
              </a:rPr>
              <a:t>リアルタイム環境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時間単位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kumimoji="1"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日単位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通知設定</a:t>
            </a:r>
            <a:endParaRPr kumimoji="1" lang="en-US" altLang="ja-JP" sz="1400" dirty="0">
              <a:solidFill>
                <a:schemeClr val="bg1"/>
              </a:solidFill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8C5BEE0-E39D-9A8B-353F-BCF115787D13}"/>
              </a:ext>
            </a:extLst>
          </p:cNvPr>
          <p:cNvSpPr/>
          <p:nvPr/>
        </p:nvSpPr>
        <p:spPr>
          <a:xfrm>
            <a:off x="593681" y="3011514"/>
            <a:ext cx="1570182" cy="273303"/>
          </a:xfrm>
          <a:prstGeom prst="roundRect">
            <a:avLst/>
          </a:prstGeom>
          <a:solidFill>
            <a:srgbClr val="D0CECE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1086219-379D-12AB-8A92-CC1D03583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7439" y="649585"/>
            <a:ext cx="336903" cy="369332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9386D18C-ED6D-AC63-C480-5460A2F7BE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611" y="1312416"/>
            <a:ext cx="174568" cy="246045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C7B951A-541F-6C91-ABC2-6E5CFD536AD7}"/>
              </a:ext>
            </a:extLst>
          </p:cNvPr>
          <p:cNvSpPr txBox="1"/>
          <p:nvPr/>
        </p:nvSpPr>
        <p:spPr>
          <a:xfrm>
            <a:off x="6248748" y="1281549"/>
            <a:ext cx="503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00B0F0"/>
                </a:solidFill>
              </a:rPr>
              <a:t>6</a:t>
            </a:r>
            <a:r>
              <a:rPr lang="ja-JP" altLang="en-US" sz="1400" dirty="0">
                <a:solidFill>
                  <a:srgbClr val="00B0F0"/>
                </a:solidFill>
              </a:rPr>
              <a:t>月</a:t>
            </a:r>
            <a:endParaRPr kumimoji="1" lang="ja-JP" altLang="en-US" sz="1400" dirty="0">
              <a:solidFill>
                <a:srgbClr val="00B0F0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51DB3C9-0FB9-8BB3-C92F-DC471E58111F}"/>
              </a:ext>
            </a:extLst>
          </p:cNvPr>
          <p:cNvSpPr txBox="1"/>
          <p:nvPr/>
        </p:nvSpPr>
        <p:spPr>
          <a:xfrm>
            <a:off x="5439829" y="1281548"/>
            <a:ext cx="503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</a:rPr>
              <a:t>5</a:t>
            </a:r>
            <a:r>
              <a:rPr lang="ja-JP" altLang="en-US" sz="1400" dirty="0">
                <a:solidFill>
                  <a:schemeClr val="bg1"/>
                </a:solidFill>
              </a:rPr>
              <a:t>月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47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37259-D235-A08A-8EC0-8709DBAA8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F921251-9DB5-23AD-5D3E-ADFC031A37C6}"/>
              </a:ext>
            </a:extLst>
          </p:cNvPr>
          <p:cNvSpPr/>
          <p:nvPr/>
        </p:nvSpPr>
        <p:spPr>
          <a:xfrm>
            <a:off x="424872" y="381000"/>
            <a:ext cx="11342255" cy="609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652831C-CA75-B727-0451-BEF64027C15F}"/>
              </a:ext>
            </a:extLst>
          </p:cNvPr>
          <p:cNvSpPr txBox="1"/>
          <p:nvPr/>
        </p:nvSpPr>
        <p:spPr>
          <a:xfrm>
            <a:off x="704272" y="605820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室内環境計測・通知システム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41A06EE-65A6-9E1F-54D6-D3F4E0659E13}"/>
              </a:ext>
            </a:extLst>
          </p:cNvPr>
          <p:cNvCxnSpPr/>
          <p:nvPr/>
        </p:nvCxnSpPr>
        <p:spPr>
          <a:xfrm>
            <a:off x="637309" y="1542473"/>
            <a:ext cx="138545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110F3F0-C247-59F7-E422-568F37CB854E}"/>
              </a:ext>
            </a:extLst>
          </p:cNvPr>
          <p:cNvSpPr txBox="1"/>
          <p:nvPr/>
        </p:nvSpPr>
        <p:spPr>
          <a:xfrm>
            <a:off x="552118" y="1679020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bg1"/>
                </a:solidFill>
              </a:rPr>
              <a:t>画面一覧</a:t>
            </a:r>
            <a:endParaRPr kumimoji="1" lang="en-US" altLang="ja-JP" sz="1400" b="1" dirty="0">
              <a:solidFill>
                <a:schemeClr val="bg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D30B70E-4CB0-F16A-C137-6CDDEBC573D6}"/>
              </a:ext>
            </a:extLst>
          </p:cNvPr>
          <p:cNvSpPr txBox="1"/>
          <p:nvPr/>
        </p:nvSpPr>
        <p:spPr>
          <a:xfrm>
            <a:off x="552118" y="2158069"/>
            <a:ext cx="16533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solidFill>
                  <a:schemeClr val="bg1"/>
                </a:solidFill>
              </a:rPr>
              <a:t>リアルタイム環境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時間単位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kumimoji="1"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日単位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通知設定</a:t>
            </a:r>
            <a:endParaRPr kumimoji="1" lang="en-US" altLang="ja-JP" sz="1400" dirty="0">
              <a:solidFill>
                <a:schemeClr val="bg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BA1EF0B-7CA3-3CF9-5744-D477555BA9BB}"/>
              </a:ext>
            </a:extLst>
          </p:cNvPr>
          <p:cNvSpPr/>
          <p:nvPr/>
        </p:nvSpPr>
        <p:spPr>
          <a:xfrm>
            <a:off x="593681" y="3452772"/>
            <a:ext cx="1570182" cy="273303"/>
          </a:xfrm>
          <a:prstGeom prst="roundRect">
            <a:avLst/>
          </a:prstGeom>
          <a:solidFill>
            <a:srgbClr val="D0CECE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8D948F9-4777-B968-BD81-683CAE175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439" y="649585"/>
            <a:ext cx="336903" cy="36933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75EE86C-D6F1-71C3-960E-30C9A1B0F269}"/>
              </a:ext>
            </a:extLst>
          </p:cNvPr>
          <p:cNvSpPr txBox="1"/>
          <p:nvPr/>
        </p:nvSpPr>
        <p:spPr>
          <a:xfrm>
            <a:off x="2806861" y="3331419"/>
            <a:ext cx="76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温度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1C8CE17-AE82-8744-61F2-73A98F97A54B}"/>
              </a:ext>
            </a:extLst>
          </p:cNvPr>
          <p:cNvSpPr/>
          <p:nvPr/>
        </p:nvSpPr>
        <p:spPr>
          <a:xfrm>
            <a:off x="5811291" y="3331419"/>
            <a:ext cx="1082654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69933657-2C38-27B0-1FCF-62F52E1F9BB6}"/>
              </a:ext>
            </a:extLst>
          </p:cNvPr>
          <p:cNvSpPr/>
          <p:nvPr/>
        </p:nvSpPr>
        <p:spPr>
          <a:xfrm>
            <a:off x="6710081" y="3394107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338CACD9-7262-4335-5C0A-61C1BDDFA9BA}"/>
              </a:ext>
            </a:extLst>
          </p:cNvPr>
          <p:cNvSpPr/>
          <p:nvPr/>
        </p:nvSpPr>
        <p:spPr>
          <a:xfrm rot="10800000">
            <a:off x="6710081" y="355695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B29018D-7835-F6D2-413C-97016B28B539}"/>
              </a:ext>
            </a:extLst>
          </p:cNvPr>
          <p:cNvSpPr txBox="1"/>
          <p:nvPr/>
        </p:nvSpPr>
        <p:spPr>
          <a:xfrm>
            <a:off x="2806861" y="4150046"/>
            <a:ext cx="76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湿度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5BAF2AE3-8EB9-A996-A71B-4844EC7900FA}"/>
              </a:ext>
            </a:extLst>
          </p:cNvPr>
          <p:cNvSpPr/>
          <p:nvPr/>
        </p:nvSpPr>
        <p:spPr>
          <a:xfrm>
            <a:off x="5807782" y="4150046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二等辺三角形 20">
            <a:extLst>
              <a:ext uri="{FF2B5EF4-FFF2-40B4-BE49-F238E27FC236}">
                <a16:creationId xmlns:a16="http://schemas.microsoft.com/office/drawing/2014/main" id="{D7532D03-FF89-CA6C-BCE3-E5C142AB1D15}"/>
              </a:ext>
            </a:extLst>
          </p:cNvPr>
          <p:cNvSpPr/>
          <p:nvPr/>
        </p:nvSpPr>
        <p:spPr>
          <a:xfrm>
            <a:off x="6710081" y="421273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二等辺三角形 22">
            <a:extLst>
              <a:ext uri="{FF2B5EF4-FFF2-40B4-BE49-F238E27FC236}">
                <a16:creationId xmlns:a16="http://schemas.microsoft.com/office/drawing/2014/main" id="{C67CE597-7684-7E77-C50E-5496B5D2A9C7}"/>
              </a:ext>
            </a:extLst>
          </p:cNvPr>
          <p:cNvSpPr/>
          <p:nvPr/>
        </p:nvSpPr>
        <p:spPr>
          <a:xfrm rot="10800000">
            <a:off x="6710081" y="4375581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69964E1-FDEE-20E1-E3CC-14B7811390D0}"/>
              </a:ext>
            </a:extLst>
          </p:cNvPr>
          <p:cNvSpPr txBox="1"/>
          <p:nvPr/>
        </p:nvSpPr>
        <p:spPr>
          <a:xfrm>
            <a:off x="2806861" y="4988861"/>
            <a:ext cx="76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気圧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96E4B8AD-3BED-B044-544F-FD91138B33C1}"/>
              </a:ext>
            </a:extLst>
          </p:cNvPr>
          <p:cNvSpPr/>
          <p:nvPr/>
        </p:nvSpPr>
        <p:spPr>
          <a:xfrm>
            <a:off x="5807782" y="4988861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E7CFE113-4E21-478B-1BEC-4E465F663AFF}"/>
              </a:ext>
            </a:extLst>
          </p:cNvPr>
          <p:cNvSpPr/>
          <p:nvPr/>
        </p:nvSpPr>
        <p:spPr>
          <a:xfrm>
            <a:off x="6710081" y="5051549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二等辺三角形 30">
            <a:extLst>
              <a:ext uri="{FF2B5EF4-FFF2-40B4-BE49-F238E27FC236}">
                <a16:creationId xmlns:a16="http://schemas.microsoft.com/office/drawing/2014/main" id="{7404C084-589F-A8FF-9501-BABFACD33241}"/>
              </a:ext>
            </a:extLst>
          </p:cNvPr>
          <p:cNvSpPr/>
          <p:nvPr/>
        </p:nvSpPr>
        <p:spPr>
          <a:xfrm rot="10800000">
            <a:off x="6710081" y="5214396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BCEE1E56-7442-95A1-9D18-A5C4DFF27A26}"/>
              </a:ext>
            </a:extLst>
          </p:cNvPr>
          <p:cNvSpPr txBox="1"/>
          <p:nvPr/>
        </p:nvSpPr>
        <p:spPr>
          <a:xfrm>
            <a:off x="5206564" y="2282776"/>
            <a:ext cx="76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室内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92BCD84F-CDEC-9FD8-1A77-48FC19576941}"/>
              </a:ext>
            </a:extLst>
          </p:cNvPr>
          <p:cNvSpPr txBox="1"/>
          <p:nvPr/>
        </p:nvSpPr>
        <p:spPr>
          <a:xfrm>
            <a:off x="8784703" y="2282776"/>
            <a:ext cx="76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室外</a:t>
            </a: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2B153A82-1686-9C6F-D331-29529C4DDFD0}"/>
              </a:ext>
            </a:extLst>
          </p:cNvPr>
          <p:cNvSpPr/>
          <p:nvPr/>
        </p:nvSpPr>
        <p:spPr>
          <a:xfrm>
            <a:off x="10594440" y="5839082"/>
            <a:ext cx="822900" cy="369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/>
              <a:t>適用</a:t>
            </a:r>
            <a:endParaRPr kumimoji="1" lang="ja-JP" altLang="en-US" b="1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8D5C1959-7EF3-AD32-4F78-04C0A3BFB8E2}"/>
              </a:ext>
            </a:extLst>
          </p:cNvPr>
          <p:cNvSpPr txBox="1"/>
          <p:nvPr/>
        </p:nvSpPr>
        <p:spPr>
          <a:xfrm>
            <a:off x="2806861" y="1616011"/>
            <a:ext cx="3925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通知時の閾値を設定してください。</a:t>
            </a: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C40D778F-B731-5AC1-0C83-A031B356C729}"/>
              </a:ext>
            </a:extLst>
          </p:cNvPr>
          <p:cNvSpPr/>
          <p:nvPr/>
        </p:nvSpPr>
        <p:spPr>
          <a:xfrm>
            <a:off x="4114518" y="3331419"/>
            <a:ext cx="1082654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二等辺三角形 59">
            <a:extLst>
              <a:ext uri="{FF2B5EF4-FFF2-40B4-BE49-F238E27FC236}">
                <a16:creationId xmlns:a16="http://schemas.microsoft.com/office/drawing/2014/main" id="{D9E629C3-E870-4A7E-B886-B59DE6C5F90E}"/>
              </a:ext>
            </a:extLst>
          </p:cNvPr>
          <p:cNvSpPr/>
          <p:nvPr/>
        </p:nvSpPr>
        <p:spPr>
          <a:xfrm>
            <a:off x="5013308" y="3394107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二等辺三角形 61">
            <a:extLst>
              <a:ext uri="{FF2B5EF4-FFF2-40B4-BE49-F238E27FC236}">
                <a16:creationId xmlns:a16="http://schemas.microsoft.com/office/drawing/2014/main" id="{7681E9F6-D9B6-2B8B-AB65-9A073F415140}"/>
              </a:ext>
            </a:extLst>
          </p:cNvPr>
          <p:cNvSpPr/>
          <p:nvPr/>
        </p:nvSpPr>
        <p:spPr>
          <a:xfrm rot="10800000">
            <a:off x="5013308" y="355695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四角形: 角を丸くする 63">
            <a:extLst>
              <a:ext uri="{FF2B5EF4-FFF2-40B4-BE49-F238E27FC236}">
                <a16:creationId xmlns:a16="http://schemas.microsoft.com/office/drawing/2014/main" id="{DE9087FA-CD13-2D8A-E75E-C983D1D5119D}"/>
              </a:ext>
            </a:extLst>
          </p:cNvPr>
          <p:cNvSpPr/>
          <p:nvPr/>
        </p:nvSpPr>
        <p:spPr>
          <a:xfrm>
            <a:off x="4111009" y="4150046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二等辺三角形 65">
            <a:extLst>
              <a:ext uri="{FF2B5EF4-FFF2-40B4-BE49-F238E27FC236}">
                <a16:creationId xmlns:a16="http://schemas.microsoft.com/office/drawing/2014/main" id="{EE96804E-1D33-DA43-81D4-3291DDFEE919}"/>
              </a:ext>
            </a:extLst>
          </p:cNvPr>
          <p:cNvSpPr/>
          <p:nvPr/>
        </p:nvSpPr>
        <p:spPr>
          <a:xfrm>
            <a:off x="5013308" y="421273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二等辺三角形 67">
            <a:extLst>
              <a:ext uri="{FF2B5EF4-FFF2-40B4-BE49-F238E27FC236}">
                <a16:creationId xmlns:a16="http://schemas.microsoft.com/office/drawing/2014/main" id="{F7E47F06-BBAA-B0BB-E9A9-BE4A6A763717}"/>
              </a:ext>
            </a:extLst>
          </p:cNvPr>
          <p:cNvSpPr/>
          <p:nvPr/>
        </p:nvSpPr>
        <p:spPr>
          <a:xfrm rot="10800000">
            <a:off x="5013308" y="4375581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1E3A92E1-D1E0-DFAA-5039-BC3D0B9F02B5}"/>
              </a:ext>
            </a:extLst>
          </p:cNvPr>
          <p:cNvSpPr/>
          <p:nvPr/>
        </p:nvSpPr>
        <p:spPr>
          <a:xfrm>
            <a:off x="4111009" y="4988861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二等辺三角形 71">
            <a:extLst>
              <a:ext uri="{FF2B5EF4-FFF2-40B4-BE49-F238E27FC236}">
                <a16:creationId xmlns:a16="http://schemas.microsoft.com/office/drawing/2014/main" id="{426FCCF6-BA41-8316-2043-9B47D538E6FF}"/>
              </a:ext>
            </a:extLst>
          </p:cNvPr>
          <p:cNvSpPr/>
          <p:nvPr/>
        </p:nvSpPr>
        <p:spPr>
          <a:xfrm>
            <a:off x="5013308" y="5051549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二等辺三角形 73">
            <a:extLst>
              <a:ext uri="{FF2B5EF4-FFF2-40B4-BE49-F238E27FC236}">
                <a16:creationId xmlns:a16="http://schemas.microsoft.com/office/drawing/2014/main" id="{7F1CECF3-91F7-95A1-16C4-6C665CFF11CC}"/>
              </a:ext>
            </a:extLst>
          </p:cNvPr>
          <p:cNvSpPr/>
          <p:nvPr/>
        </p:nvSpPr>
        <p:spPr>
          <a:xfrm rot="10800000">
            <a:off x="5013308" y="5214396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60925954-103A-E881-E513-52C2A305D926}"/>
              </a:ext>
            </a:extLst>
          </p:cNvPr>
          <p:cNvSpPr/>
          <p:nvPr/>
        </p:nvSpPr>
        <p:spPr>
          <a:xfrm>
            <a:off x="9408480" y="3331419"/>
            <a:ext cx="1082654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二等辺三角形 77">
            <a:extLst>
              <a:ext uri="{FF2B5EF4-FFF2-40B4-BE49-F238E27FC236}">
                <a16:creationId xmlns:a16="http://schemas.microsoft.com/office/drawing/2014/main" id="{7A15847E-DEE4-6AC9-BFE2-37A5D21F78EC}"/>
              </a:ext>
            </a:extLst>
          </p:cNvPr>
          <p:cNvSpPr/>
          <p:nvPr/>
        </p:nvSpPr>
        <p:spPr>
          <a:xfrm>
            <a:off x="10307270" y="3394107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二等辺三角形 79">
            <a:extLst>
              <a:ext uri="{FF2B5EF4-FFF2-40B4-BE49-F238E27FC236}">
                <a16:creationId xmlns:a16="http://schemas.microsoft.com/office/drawing/2014/main" id="{7FBEFD57-789D-0D2C-52EE-93697B7BBB83}"/>
              </a:ext>
            </a:extLst>
          </p:cNvPr>
          <p:cNvSpPr/>
          <p:nvPr/>
        </p:nvSpPr>
        <p:spPr>
          <a:xfrm rot="10800000">
            <a:off x="10307270" y="355695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四角形: 角を丸くする 81">
            <a:extLst>
              <a:ext uri="{FF2B5EF4-FFF2-40B4-BE49-F238E27FC236}">
                <a16:creationId xmlns:a16="http://schemas.microsoft.com/office/drawing/2014/main" id="{4F5C4652-AC20-905E-78F2-A05EA39B6826}"/>
              </a:ext>
            </a:extLst>
          </p:cNvPr>
          <p:cNvSpPr/>
          <p:nvPr/>
        </p:nvSpPr>
        <p:spPr>
          <a:xfrm>
            <a:off x="9404971" y="4150046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二等辺三角形 83">
            <a:extLst>
              <a:ext uri="{FF2B5EF4-FFF2-40B4-BE49-F238E27FC236}">
                <a16:creationId xmlns:a16="http://schemas.microsoft.com/office/drawing/2014/main" id="{252AB621-8297-E56E-DC0E-5319741815E9}"/>
              </a:ext>
            </a:extLst>
          </p:cNvPr>
          <p:cNvSpPr/>
          <p:nvPr/>
        </p:nvSpPr>
        <p:spPr>
          <a:xfrm>
            <a:off x="10307270" y="421273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二等辺三角形 85">
            <a:extLst>
              <a:ext uri="{FF2B5EF4-FFF2-40B4-BE49-F238E27FC236}">
                <a16:creationId xmlns:a16="http://schemas.microsoft.com/office/drawing/2014/main" id="{154213F5-157D-62B5-88D8-92CC1C7B776B}"/>
              </a:ext>
            </a:extLst>
          </p:cNvPr>
          <p:cNvSpPr/>
          <p:nvPr/>
        </p:nvSpPr>
        <p:spPr>
          <a:xfrm rot="10800000">
            <a:off x="10307270" y="4375581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四角形: 角を丸くする 87">
            <a:extLst>
              <a:ext uri="{FF2B5EF4-FFF2-40B4-BE49-F238E27FC236}">
                <a16:creationId xmlns:a16="http://schemas.microsoft.com/office/drawing/2014/main" id="{54416C28-B4F9-1A2A-0A76-9DB83414CD04}"/>
              </a:ext>
            </a:extLst>
          </p:cNvPr>
          <p:cNvSpPr/>
          <p:nvPr/>
        </p:nvSpPr>
        <p:spPr>
          <a:xfrm>
            <a:off x="9404971" y="4988861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二等辺三角形 89">
            <a:extLst>
              <a:ext uri="{FF2B5EF4-FFF2-40B4-BE49-F238E27FC236}">
                <a16:creationId xmlns:a16="http://schemas.microsoft.com/office/drawing/2014/main" id="{0619256D-F7AF-D4F4-16C8-F4046D85E27C}"/>
              </a:ext>
            </a:extLst>
          </p:cNvPr>
          <p:cNvSpPr/>
          <p:nvPr/>
        </p:nvSpPr>
        <p:spPr>
          <a:xfrm>
            <a:off x="10307270" y="5051549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二等辺三角形 91">
            <a:extLst>
              <a:ext uri="{FF2B5EF4-FFF2-40B4-BE49-F238E27FC236}">
                <a16:creationId xmlns:a16="http://schemas.microsoft.com/office/drawing/2014/main" id="{15D0C556-4A15-18F7-922D-C54048849F4D}"/>
              </a:ext>
            </a:extLst>
          </p:cNvPr>
          <p:cNvSpPr/>
          <p:nvPr/>
        </p:nvSpPr>
        <p:spPr>
          <a:xfrm rot="10800000">
            <a:off x="10307270" y="5214396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四角形: 角を丸くする 93">
            <a:extLst>
              <a:ext uri="{FF2B5EF4-FFF2-40B4-BE49-F238E27FC236}">
                <a16:creationId xmlns:a16="http://schemas.microsoft.com/office/drawing/2014/main" id="{7E7CBA26-3937-510E-FA20-338240E6E9CA}"/>
              </a:ext>
            </a:extLst>
          </p:cNvPr>
          <p:cNvSpPr/>
          <p:nvPr/>
        </p:nvSpPr>
        <p:spPr>
          <a:xfrm>
            <a:off x="7711707" y="3331419"/>
            <a:ext cx="1082654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二等辺三角形 95">
            <a:extLst>
              <a:ext uri="{FF2B5EF4-FFF2-40B4-BE49-F238E27FC236}">
                <a16:creationId xmlns:a16="http://schemas.microsoft.com/office/drawing/2014/main" id="{8E6E277F-F179-34B9-2A30-C1F9018EB6EC}"/>
              </a:ext>
            </a:extLst>
          </p:cNvPr>
          <p:cNvSpPr/>
          <p:nvPr/>
        </p:nvSpPr>
        <p:spPr>
          <a:xfrm>
            <a:off x="8610497" y="3394107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二等辺三角形 97">
            <a:extLst>
              <a:ext uri="{FF2B5EF4-FFF2-40B4-BE49-F238E27FC236}">
                <a16:creationId xmlns:a16="http://schemas.microsoft.com/office/drawing/2014/main" id="{42046D4B-D467-930A-E6DF-32BE5FC322BA}"/>
              </a:ext>
            </a:extLst>
          </p:cNvPr>
          <p:cNvSpPr/>
          <p:nvPr/>
        </p:nvSpPr>
        <p:spPr>
          <a:xfrm rot="10800000">
            <a:off x="8610497" y="355695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四角形: 角を丸くする 99">
            <a:extLst>
              <a:ext uri="{FF2B5EF4-FFF2-40B4-BE49-F238E27FC236}">
                <a16:creationId xmlns:a16="http://schemas.microsoft.com/office/drawing/2014/main" id="{671C308D-AA3D-0BA7-EA90-0A38800C6D0B}"/>
              </a:ext>
            </a:extLst>
          </p:cNvPr>
          <p:cNvSpPr/>
          <p:nvPr/>
        </p:nvSpPr>
        <p:spPr>
          <a:xfrm>
            <a:off x="7708198" y="4150046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二等辺三角形 101">
            <a:extLst>
              <a:ext uri="{FF2B5EF4-FFF2-40B4-BE49-F238E27FC236}">
                <a16:creationId xmlns:a16="http://schemas.microsoft.com/office/drawing/2014/main" id="{89D4A414-816E-9723-8024-A83FAA85B2D8}"/>
              </a:ext>
            </a:extLst>
          </p:cNvPr>
          <p:cNvSpPr/>
          <p:nvPr/>
        </p:nvSpPr>
        <p:spPr>
          <a:xfrm>
            <a:off x="8610497" y="421273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二等辺三角形 103">
            <a:extLst>
              <a:ext uri="{FF2B5EF4-FFF2-40B4-BE49-F238E27FC236}">
                <a16:creationId xmlns:a16="http://schemas.microsoft.com/office/drawing/2014/main" id="{A8BA87B2-178B-AACD-6C5D-18D289B34F7E}"/>
              </a:ext>
            </a:extLst>
          </p:cNvPr>
          <p:cNvSpPr/>
          <p:nvPr/>
        </p:nvSpPr>
        <p:spPr>
          <a:xfrm rot="10800000">
            <a:off x="8610497" y="4375581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四角形: 角を丸くする 105">
            <a:extLst>
              <a:ext uri="{FF2B5EF4-FFF2-40B4-BE49-F238E27FC236}">
                <a16:creationId xmlns:a16="http://schemas.microsoft.com/office/drawing/2014/main" id="{2174B5D1-F5E5-8A59-3FEC-7E35FE86E939}"/>
              </a:ext>
            </a:extLst>
          </p:cNvPr>
          <p:cNvSpPr/>
          <p:nvPr/>
        </p:nvSpPr>
        <p:spPr>
          <a:xfrm>
            <a:off x="7708198" y="4988861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二等辺三角形 107">
            <a:extLst>
              <a:ext uri="{FF2B5EF4-FFF2-40B4-BE49-F238E27FC236}">
                <a16:creationId xmlns:a16="http://schemas.microsoft.com/office/drawing/2014/main" id="{F78D9C58-BB98-41A2-C944-D652C02F7069}"/>
              </a:ext>
            </a:extLst>
          </p:cNvPr>
          <p:cNvSpPr/>
          <p:nvPr/>
        </p:nvSpPr>
        <p:spPr>
          <a:xfrm>
            <a:off x="8610497" y="5051549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" name="二等辺三角形 109">
            <a:extLst>
              <a:ext uri="{FF2B5EF4-FFF2-40B4-BE49-F238E27FC236}">
                <a16:creationId xmlns:a16="http://schemas.microsoft.com/office/drawing/2014/main" id="{45BDF46C-D1A5-9DAC-41C8-DBAA39137015}"/>
              </a:ext>
            </a:extLst>
          </p:cNvPr>
          <p:cNvSpPr/>
          <p:nvPr/>
        </p:nvSpPr>
        <p:spPr>
          <a:xfrm rot="10800000">
            <a:off x="8610497" y="5214396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A11A0B31-E673-2B34-A94B-5CDC6F49F607}"/>
              </a:ext>
            </a:extLst>
          </p:cNvPr>
          <p:cNvSpPr txBox="1"/>
          <p:nvPr/>
        </p:nvSpPr>
        <p:spPr>
          <a:xfrm>
            <a:off x="4272657" y="2942786"/>
            <a:ext cx="762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chemeClr val="bg1"/>
                </a:solidFill>
              </a:rPr>
              <a:t>上限</a:t>
            </a:r>
          </a:p>
        </p:txBody>
      </p: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479406C8-8B8F-0403-6026-023B8A2C2842}"/>
              </a:ext>
            </a:extLst>
          </p:cNvPr>
          <p:cNvSpPr txBox="1"/>
          <p:nvPr/>
        </p:nvSpPr>
        <p:spPr>
          <a:xfrm>
            <a:off x="7869846" y="2914194"/>
            <a:ext cx="762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chemeClr val="bg1"/>
                </a:solidFill>
              </a:rPr>
              <a:t>上限</a:t>
            </a:r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4283414D-E8CF-C09C-15EB-E9314F108793}"/>
              </a:ext>
            </a:extLst>
          </p:cNvPr>
          <p:cNvSpPr txBox="1"/>
          <p:nvPr/>
        </p:nvSpPr>
        <p:spPr>
          <a:xfrm>
            <a:off x="5969430" y="2934793"/>
            <a:ext cx="762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</a:rPr>
              <a:t>下</a:t>
            </a:r>
            <a:r>
              <a:rPr kumimoji="1" lang="ja-JP" altLang="en-US" sz="1600" dirty="0">
                <a:solidFill>
                  <a:schemeClr val="bg1"/>
                </a:solidFill>
              </a:rPr>
              <a:t>限</a:t>
            </a:r>
          </a:p>
        </p:txBody>
      </p: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9728C3E1-F53C-7BBA-EB8C-D5BAEE84CECE}"/>
              </a:ext>
            </a:extLst>
          </p:cNvPr>
          <p:cNvSpPr txBox="1"/>
          <p:nvPr/>
        </p:nvSpPr>
        <p:spPr>
          <a:xfrm>
            <a:off x="9566619" y="2914194"/>
            <a:ext cx="762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</a:rPr>
              <a:t>下</a:t>
            </a:r>
            <a:r>
              <a:rPr kumimoji="1" lang="ja-JP" altLang="en-US" sz="1600" dirty="0">
                <a:solidFill>
                  <a:schemeClr val="bg1"/>
                </a:solidFill>
              </a:rPr>
              <a:t>限</a:t>
            </a:r>
          </a:p>
        </p:txBody>
      </p: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22EA47FB-2996-BA74-C468-CBA9AC4B4445}"/>
              </a:ext>
            </a:extLst>
          </p:cNvPr>
          <p:cNvCxnSpPr>
            <a:cxnSpLocks/>
          </p:cNvCxnSpPr>
          <p:nvPr/>
        </p:nvCxnSpPr>
        <p:spPr>
          <a:xfrm flipV="1">
            <a:off x="7337714" y="2275898"/>
            <a:ext cx="0" cy="339672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859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67C65-2F58-F47E-B812-32DD94FF6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E18F7CF-38DE-4CEC-0C10-9F7C6026F4E5}"/>
              </a:ext>
            </a:extLst>
          </p:cNvPr>
          <p:cNvSpPr/>
          <p:nvPr/>
        </p:nvSpPr>
        <p:spPr>
          <a:xfrm>
            <a:off x="424872" y="381000"/>
            <a:ext cx="11342255" cy="609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B9C07CE-A1D2-CE85-0BE2-AEAE70E6465B}"/>
              </a:ext>
            </a:extLst>
          </p:cNvPr>
          <p:cNvSpPr txBox="1"/>
          <p:nvPr/>
        </p:nvSpPr>
        <p:spPr>
          <a:xfrm>
            <a:off x="704272" y="605820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室内環境計測・通知システム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9AF8B87-E2EC-4455-6C30-309430AE4B16}"/>
              </a:ext>
            </a:extLst>
          </p:cNvPr>
          <p:cNvCxnSpPr/>
          <p:nvPr/>
        </p:nvCxnSpPr>
        <p:spPr>
          <a:xfrm>
            <a:off x="637309" y="1542473"/>
            <a:ext cx="138545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992E3E3-8373-2860-D542-DB4F3B011448}"/>
              </a:ext>
            </a:extLst>
          </p:cNvPr>
          <p:cNvSpPr txBox="1"/>
          <p:nvPr/>
        </p:nvSpPr>
        <p:spPr>
          <a:xfrm>
            <a:off x="552118" y="1679020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bg1"/>
                </a:solidFill>
              </a:rPr>
              <a:t>画面一覧</a:t>
            </a:r>
            <a:endParaRPr kumimoji="1" lang="en-US" altLang="ja-JP" sz="1400" b="1" dirty="0">
              <a:solidFill>
                <a:schemeClr val="bg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943A9B1-3D01-83E7-993E-03773A13FF45}"/>
              </a:ext>
            </a:extLst>
          </p:cNvPr>
          <p:cNvSpPr txBox="1"/>
          <p:nvPr/>
        </p:nvSpPr>
        <p:spPr>
          <a:xfrm>
            <a:off x="552118" y="2158069"/>
            <a:ext cx="16533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solidFill>
                  <a:schemeClr val="bg1"/>
                </a:solidFill>
              </a:rPr>
              <a:t>リアルタイム環境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時間単位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kumimoji="1"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日単位</a:t>
            </a:r>
            <a:endParaRPr kumimoji="1"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kumimoji="1" lang="ja-JP" altLang="en-US" sz="1400" dirty="0">
                <a:solidFill>
                  <a:schemeClr val="bg1"/>
                </a:solidFill>
              </a:rPr>
              <a:t>通知設定</a:t>
            </a:r>
            <a:endParaRPr kumimoji="1" lang="en-US" altLang="ja-JP" sz="1400" dirty="0">
              <a:solidFill>
                <a:schemeClr val="bg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B7B28C6-D4BF-027E-7B74-34BB8CD8E85E}"/>
              </a:ext>
            </a:extLst>
          </p:cNvPr>
          <p:cNvSpPr/>
          <p:nvPr/>
        </p:nvSpPr>
        <p:spPr>
          <a:xfrm>
            <a:off x="593681" y="3452772"/>
            <a:ext cx="1570182" cy="273303"/>
          </a:xfrm>
          <a:prstGeom prst="roundRect">
            <a:avLst/>
          </a:prstGeom>
          <a:solidFill>
            <a:srgbClr val="D0CECE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7961BFA-C651-E75D-5EB5-83D1CA06C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439" y="649585"/>
            <a:ext cx="336903" cy="36933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C8F8DCA-AAFF-BAFC-6332-358A2A595528}"/>
              </a:ext>
            </a:extLst>
          </p:cNvPr>
          <p:cNvSpPr txBox="1"/>
          <p:nvPr/>
        </p:nvSpPr>
        <p:spPr>
          <a:xfrm>
            <a:off x="2806861" y="3331419"/>
            <a:ext cx="76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温度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45D245B0-F968-5EEB-7EA0-DD8F4DA3037A}"/>
              </a:ext>
            </a:extLst>
          </p:cNvPr>
          <p:cNvSpPr/>
          <p:nvPr/>
        </p:nvSpPr>
        <p:spPr>
          <a:xfrm>
            <a:off x="5811291" y="3331419"/>
            <a:ext cx="1082654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667C52DA-09C6-8107-2238-3472AD022E03}"/>
              </a:ext>
            </a:extLst>
          </p:cNvPr>
          <p:cNvSpPr/>
          <p:nvPr/>
        </p:nvSpPr>
        <p:spPr>
          <a:xfrm>
            <a:off x="6710081" y="3394107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EEDC84B6-1CC7-4313-B4F9-0E0F6830A218}"/>
              </a:ext>
            </a:extLst>
          </p:cNvPr>
          <p:cNvSpPr/>
          <p:nvPr/>
        </p:nvSpPr>
        <p:spPr>
          <a:xfrm rot="10800000">
            <a:off x="6710081" y="355695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6418A1D-858C-97D6-F3AC-F188FD30F429}"/>
              </a:ext>
            </a:extLst>
          </p:cNvPr>
          <p:cNvSpPr txBox="1"/>
          <p:nvPr/>
        </p:nvSpPr>
        <p:spPr>
          <a:xfrm>
            <a:off x="2806861" y="4150046"/>
            <a:ext cx="76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湿度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5461A214-CAA6-D055-2EEF-142F91343735}"/>
              </a:ext>
            </a:extLst>
          </p:cNvPr>
          <p:cNvSpPr/>
          <p:nvPr/>
        </p:nvSpPr>
        <p:spPr>
          <a:xfrm>
            <a:off x="5807782" y="4150046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二等辺三角形 20">
            <a:extLst>
              <a:ext uri="{FF2B5EF4-FFF2-40B4-BE49-F238E27FC236}">
                <a16:creationId xmlns:a16="http://schemas.microsoft.com/office/drawing/2014/main" id="{136AD8C5-D3D2-9768-1671-F8F0270A70B4}"/>
              </a:ext>
            </a:extLst>
          </p:cNvPr>
          <p:cNvSpPr/>
          <p:nvPr/>
        </p:nvSpPr>
        <p:spPr>
          <a:xfrm>
            <a:off x="6710081" y="421273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二等辺三角形 22">
            <a:extLst>
              <a:ext uri="{FF2B5EF4-FFF2-40B4-BE49-F238E27FC236}">
                <a16:creationId xmlns:a16="http://schemas.microsoft.com/office/drawing/2014/main" id="{79443461-EA14-594D-4DDF-B2D55395D488}"/>
              </a:ext>
            </a:extLst>
          </p:cNvPr>
          <p:cNvSpPr/>
          <p:nvPr/>
        </p:nvSpPr>
        <p:spPr>
          <a:xfrm rot="10800000">
            <a:off x="6710081" y="4375581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F03A838-A7E7-9058-8215-7FFBF970A04A}"/>
              </a:ext>
            </a:extLst>
          </p:cNvPr>
          <p:cNvSpPr txBox="1"/>
          <p:nvPr/>
        </p:nvSpPr>
        <p:spPr>
          <a:xfrm>
            <a:off x="2806861" y="4988861"/>
            <a:ext cx="76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気圧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5140365-05AC-018C-1144-62AE4285B9A2}"/>
              </a:ext>
            </a:extLst>
          </p:cNvPr>
          <p:cNvSpPr/>
          <p:nvPr/>
        </p:nvSpPr>
        <p:spPr>
          <a:xfrm>
            <a:off x="5807782" y="4988861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41DFFB98-5CB5-3DD1-F9F2-71045B4D865D}"/>
              </a:ext>
            </a:extLst>
          </p:cNvPr>
          <p:cNvSpPr/>
          <p:nvPr/>
        </p:nvSpPr>
        <p:spPr>
          <a:xfrm>
            <a:off x="6710081" y="5051549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二等辺三角形 30">
            <a:extLst>
              <a:ext uri="{FF2B5EF4-FFF2-40B4-BE49-F238E27FC236}">
                <a16:creationId xmlns:a16="http://schemas.microsoft.com/office/drawing/2014/main" id="{33AF4D55-F44B-598B-648E-FEAD36FA0F21}"/>
              </a:ext>
            </a:extLst>
          </p:cNvPr>
          <p:cNvSpPr/>
          <p:nvPr/>
        </p:nvSpPr>
        <p:spPr>
          <a:xfrm rot="10800000">
            <a:off x="6710081" y="5214396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3C9B11F9-F2F0-9F0D-15BD-CA91EE5CAFFD}"/>
              </a:ext>
            </a:extLst>
          </p:cNvPr>
          <p:cNvSpPr txBox="1"/>
          <p:nvPr/>
        </p:nvSpPr>
        <p:spPr>
          <a:xfrm>
            <a:off x="5206564" y="2282776"/>
            <a:ext cx="76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室内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E25325A-1294-F4BA-C035-B7C59FD7C3A5}"/>
              </a:ext>
            </a:extLst>
          </p:cNvPr>
          <p:cNvSpPr txBox="1"/>
          <p:nvPr/>
        </p:nvSpPr>
        <p:spPr>
          <a:xfrm>
            <a:off x="8784703" y="2282776"/>
            <a:ext cx="76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室外</a:t>
            </a: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D3DD1944-2024-0754-6D18-6C005143DB06}"/>
              </a:ext>
            </a:extLst>
          </p:cNvPr>
          <p:cNvSpPr/>
          <p:nvPr/>
        </p:nvSpPr>
        <p:spPr>
          <a:xfrm>
            <a:off x="10594440" y="5839082"/>
            <a:ext cx="822900" cy="36933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/>
              <a:t>適用</a:t>
            </a:r>
            <a:endParaRPr kumimoji="1" lang="ja-JP" altLang="en-US" b="1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15838F-1889-CE1E-FEC9-9520D3C9BEAC}"/>
              </a:ext>
            </a:extLst>
          </p:cNvPr>
          <p:cNvSpPr txBox="1"/>
          <p:nvPr/>
        </p:nvSpPr>
        <p:spPr>
          <a:xfrm>
            <a:off x="2784645" y="1648242"/>
            <a:ext cx="3925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通知時の閾値を設定してください。</a:t>
            </a: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59A291BF-2F91-4834-1C0B-2ACA7D47348E}"/>
              </a:ext>
            </a:extLst>
          </p:cNvPr>
          <p:cNvSpPr/>
          <p:nvPr/>
        </p:nvSpPr>
        <p:spPr>
          <a:xfrm>
            <a:off x="4114518" y="3331419"/>
            <a:ext cx="1082654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二等辺三角形 59">
            <a:extLst>
              <a:ext uri="{FF2B5EF4-FFF2-40B4-BE49-F238E27FC236}">
                <a16:creationId xmlns:a16="http://schemas.microsoft.com/office/drawing/2014/main" id="{9FC52046-D826-0782-1FCD-74F78F2DA772}"/>
              </a:ext>
            </a:extLst>
          </p:cNvPr>
          <p:cNvSpPr/>
          <p:nvPr/>
        </p:nvSpPr>
        <p:spPr>
          <a:xfrm>
            <a:off x="5013308" y="3394107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二等辺三角形 61">
            <a:extLst>
              <a:ext uri="{FF2B5EF4-FFF2-40B4-BE49-F238E27FC236}">
                <a16:creationId xmlns:a16="http://schemas.microsoft.com/office/drawing/2014/main" id="{D7E6058C-3A4D-94E9-7EB2-E700E5D30B78}"/>
              </a:ext>
            </a:extLst>
          </p:cNvPr>
          <p:cNvSpPr/>
          <p:nvPr/>
        </p:nvSpPr>
        <p:spPr>
          <a:xfrm rot="10800000">
            <a:off x="5013308" y="355695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四角形: 角を丸くする 63">
            <a:extLst>
              <a:ext uri="{FF2B5EF4-FFF2-40B4-BE49-F238E27FC236}">
                <a16:creationId xmlns:a16="http://schemas.microsoft.com/office/drawing/2014/main" id="{677B9F30-0F7B-16F5-8110-1791CA033201}"/>
              </a:ext>
            </a:extLst>
          </p:cNvPr>
          <p:cNvSpPr/>
          <p:nvPr/>
        </p:nvSpPr>
        <p:spPr>
          <a:xfrm>
            <a:off x="4111009" y="4150046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二等辺三角形 65">
            <a:extLst>
              <a:ext uri="{FF2B5EF4-FFF2-40B4-BE49-F238E27FC236}">
                <a16:creationId xmlns:a16="http://schemas.microsoft.com/office/drawing/2014/main" id="{3DE4EBA9-D832-21D4-FB54-90964EFC903E}"/>
              </a:ext>
            </a:extLst>
          </p:cNvPr>
          <p:cNvSpPr/>
          <p:nvPr/>
        </p:nvSpPr>
        <p:spPr>
          <a:xfrm>
            <a:off x="5013308" y="421273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二等辺三角形 67">
            <a:extLst>
              <a:ext uri="{FF2B5EF4-FFF2-40B4-BE49-F238E27FC236}">
                <a16:creationId xmlns:a16="http://schemas.microsoft.com/office/drawing/2014/main" id="{25E996FA-F4DD-6F54-C97B-475FBFEBE3A9}"/>
              </a:ext>
            </a:extLst>
          </p:cNvPr>
          <p:cNvSpPr/>
          <p:nvPr/>
        </p:nvSpPr>
        <p:spPr>
          <a:xfrm rot="10800000">
            <a:off x="5013308" y="4375581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D23B1D3C-3299-CD9C-DF1C-D84D2CAC2514}"/>
              </a:ext>
            </a:extLst>
          </p:cNvPr>
          <p:cNvSpPr/>
          <p:nvPr/>
        </p:nvSpPr>
        <p:spPr>
          <a:xfrm>
            <a:off x="4111009" y="4988861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二等辺三角形 71">
            <a:extLst>
              <a:ext uri="{FF2B5EF4-FFF2-40B4-BE49-F238E27FC236}">
                <a16:creationId xmlns:a16="http://schemas.microsoft.com/office/drawing/2014/main" id="{30FC4E4C-1D8D-1829-5EEA-D27CA379E13B}"/>
              </a:ext>
            </a:extLst>
          </p:cNvPr>
          <p:cNvSpPr/>
          <p:nvPr/>
        </p:nvSpPr>
        <p:spPr>
          <a:xfrm>
            <a:off x="5013308" y="5051549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二等辺三角形 73">
            <a:extLst>
              <a:ext uri="{FF2B5EF4-FFF2-40B4-BE49-F238E27FC236}">
                <a16:creationId xmlns:a16="http://schemas.microsoft.com/office/drawing/2014/main" id="{9F6B2AAE-3B40-CFCC-78F4-9E65896E87AF}"/>
              </a:ext>
            </a:extLst>
          </p:cNvPr>
          <p:cNvSpPr/>
          <p:nvPr/>
        </p:nvSpPr>
        <p:spPr>
          <a:xfrm rot="10800000">
            <a:off x="5013308" y="5214396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DC41C8A4-8CB5-9E87-C696-4AE26393C226}"/>
              </a:ext>
            </a:extLst>
          </p:cNvPr>
          <p:cNvSpPr/>
          <p:nvPr/>
        </p:nvSpPr>
        <p:spPr>
          <a:xfrm>
            <a:off x="9408480" y="3331419"/>
            <a:ext cx="1082654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二等辺三角形 77">
            <a:extLst>
              <a:ext uri="{FF2B5EF4-FFF2-40B4-BE49-F238E27FC236}">
                <a16:creationId xmlns:a16="http://schemas.microsoft.com/office/drawing/2014/main" id="{42763559-3A86-D7CF-7386-CF9784EF43B0}"/>
              </a:ext>
            </a:extLst>
          </p:cNvPr>
          <p:cNvSpPr/>
          <p:nvPr/>
        </p:nvSpPr>
        <p:spPr>
          <a:xfrm>
            <a:off x="10307270" y="3394107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二等辺三角形 79">
            <a:extLst>
              <a:ext uri="{FF2B5EF4-FFF2-40B4-BE49-F238E27FC236}">
                <a16:creationId xmlns:a16="http://schemas.microsoft.com/office/drawing/2014/main" id="{CC5AB536-B38B-767D-754D-3ABFC49FA878}"/>
              </a:ext>
            </a:extLst>
          </p:cNvPr>
          <p:cNvSpPr/>
          <p:nvPr/>
        </p:nvSpPr>
        <p:spPr>
          <a:xfrm rot="10800000">
            <a:off x="10307270" y="355695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四角形: 角を丸くする 81">
            <a:extLst>
              <a:ext uri="{FF2B5EF4-FFF2-40B4-BE49-F238E27FC236}">
                <a16:creationId xmlns:a16="http://schemas.microsoft.com/office/drawing/2014/main" id="{E2E7C4EF-0C6C-8BB1-493A-88BFB2F7CBBC}"/>
              </a:ext>
            </a:extLst>
          </p:cNvPr>
          <p:cNvSpPr/>
          <p:nvPr/>
        </p:nvSpPr>
        <p:spPr>
          <a:xfrm>
            <a:off x="9404971" y="4150046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二等辺三角形 83">
            <a:extLst>
              <a:ext uri="{FF2B5EF4-FFF2-40B4-BE49-F238E27FC236}">
                <a16:creationId xmlns:a16="http://schemas.microsoft.com/office/drawing/2014/main" id="{CFE550A0-BB8E-B5A4-E1CD-4E5F0EDE9DF4}"/>
              </a:ext>
            </a:extLst>
          </p:cNvPr>
          <p:cNvSpPr/>
          <p:nvPr/>
        </p:nvSpPr>
        <p:spPr>
          <a:xfrm>
            <a:off x="10307270" y="421273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二等辺三角形 85">
            <a:extLst>
              <a:ext uri="{FF2B5EF4-FFF2-40B4-BE49-F238E27FC236}">
                <a16:creationId xmlns:a16="http://schemas.microsoft.com/office/drawing/2014/main" id="{63992F72-B2BA-8F65-B70F-FE79A6E433A1}"/>
              </a:ext>
            </a:extLst>
          </p:cNvPr>
          <p:cNvSpPr/>
          <p:nvPr/>
        </p:nvSpPr>
        <p:spPr>
          <a:xfrm rot="10800000">
            <a:off x="10307270" y="4375581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四角形: 角を丸くする 87">
            <a:extLst>
              <a:ext uri="{FF2B5EF4-FFF2-40B4-BE49-F238E27FC236}">
                <a16:creationId xmlns:a16="http://schemas.microsoft.com/office/drawing/2014/main" id="{F8AB1C24-3075-543E-1750-03873BFE5664}"/>
              </a:ext>
            </a:extLst>
          </p:cNvPr>
          <p:cNvSpPr/>
          <p:nvPr/>
        </p:nvSpPr>
        <p:spPr>
          <a:xfrm>
            <a:off x="9404971" y="4988861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二等辺三角形 89">
            <a:extLst>
              <a:ext uri="{FF2B5EF4-FFF2-40B4-BE49-F238E27FC236}">
                <a16:creationId xmlns:a16="http://schemas.microsoft.com/office/drawing/2014/main" id="{95B86B1C-6166-3B79-D6E4-BC9D9471F25E}"/>
              </a:ext>
            </a:extLst>
          </p:cNvPr>
          <p:cNvSpPr/>
          <p:nvPr/>
        </p:nvSpPr>
        <p:spPr>
          <a:xfrm>
            <a:off x="10307270" y="5051549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二等辺三角形 91">
            <a:extLst>
              <a:ext uri="{FF2B5EF4-FFF2-40B4-BE49-F238E27FC236}">
                <a16:creationId xmlns:a16="http://schemas.microsoft.com/office/drawing/2014/main" id="{6F16C63E-59A4-99B8-B813-DD374A89AC59}"/>
              </a:ext>
            </a:extLst>
          </p:cNvPr>
          <p:cNvSpPr/>
          <p:nvPr/>
        </p:nvSpPr>
        <p:spPr>
          <a:xfrm rot="10800000">
            <a:off x="10307270" y="5214396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四角形: 角を丸くする 93">
            <a:extLst>
              <a:ext uri="{FF2B5EF4-FFF2-40B4-BE49-F238E27FC236}">
                <a16:creationId xmlns:a16="http://schemas.microsoft.com/office/drawing/2014/main" id="{205847CD-EB48-A387-BC9F-29DBFD3C0265}"/>
              </a:ext>
            </a:extLst>
          </p:cNvPr>
          <p:cNvSpPr/>
          <p:nvPr/>
        </p:nvSpPr>
        <p:spPr>
          <a:xfrm>
            <a:off x="7711707" y="3331419"/>
            <a:ext cx="1082654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二等辺三角形 95">
            <a:extLst>
              <a:ext uri="{FF2B5EF4-FFF2-40B4-BE49-F238E27FC236}">
                <a16:creationId xmlns:a16="http://schemas.microsoft.com/office/drawing/2014/main" id="{71A62D37-C931-4799-3D41-6078D60D7283}"/>
              </a:ext>
            </a:extLst>
          </p:cNvPr>
          <p:cNvSpPr/>
          <p:nvPr/>
        </p:nvSpPr>
        <p:spPr>
          <a:xfrm>
            <a:off x="8610497" y="3394107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二等辺三角形 97">
            <a:extLst>
              <a:ext uri="{FF2B5EF4-FFF2-40B4-BE49-F238E27FC236}">
                <a16:creationId xmlns:a16="http://schemas.microsoft.com/office/drawing/2014/main" id="{8006D980-E5D6-5F9C-9C9F-CDFC9FB4F849}"/>
              </a:ext>
            </a:extLst>
          </p:cNvPr>
          <p:cNvSpPr/>
          <p:nvPr/>
        </p:nvSpPr>
        <p:spPr>
          <a:xfrm rot="10800000">
            <a:off x="8610497" y="355695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四角形: 角を丸くする 99">
            <a:extLst>
              <a:ext uri="{FF2B5EF4-FFF2-40B4-BE49-F238E27FC236}">
                <a16:creationId xmlns:a16="http://schemas.microsoft.com/office/drawing/2014/main" id="{FF4A66C7-7488-F9BC-0F30-D6D7DF244149}"/>
              </a:ext>
            </a:extLst>
          </p:cNvPr>
          <p:cNvSpPr/>
          <p:nvPr/>
        </p:nvSpPr>
        <p:spPr>
          <a:xfrm>
            <a:off x="7708198" y="4150046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二等辺三角形 101">
            <a:extLst>
              <a:ext uri="{FF2B5EF4-FFF2-40B4-BE49-F238E27FC236}">
                <a16:creationId xmlns:a16="http://schemas.microsoft.com/office/drawing/2014/main" id="{3DCDA31C-9E7E-F621-3C04-38F42E38443B}"/>
              </a:ext>
            </a:extLst>
          </p:cNvPr>
          <p:cNvSpPr/>
          <p:nvPr/>
        </p:nvSpPr>
        <p:spPr>
          <a:xfrm>
            <a:off x="8610497" y="4212734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二等辺三角形 103">
            <a:extLst>
              <a:ext uri="{FF2B5EF4-FFF2-40B4-BE49-F238E27FC236}">
                <a16:creationId xmlns:a16="http://schemas.microsoft.com/office/drawing/2014/main" id="{486E6807-9E7A-3914-C0AE-2B0B544DD825}"/>
              </a:ext>
            </a:extLst>
          </p:cNvPr>
          <p:cNvSpPr/>
          <p:nvPr/>
        </p:nvSpPr>
        <p:spPr>
          <a:xfrm rot="10800000">
            <a:off x="8610497" y="4375581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四角形: 角を丸くする 105">
            <a:extLst>
              <a:ext uri="{FF2B5EF4-FFF2-40B4-BE49-F238E27FC236}">
                <a16:creationId xmlns:a16="http://schemas.microsoft.com/office/drawing/2014/main" id="{788D0D0D-A437-36DD-1774-16EE50CCA336}"/>
              </a:ext>
            </a:extLst>
          </p:cNvPr>
          <p:cNvSpPr/>
          <p:nvPr/>
        </p:nvSpPr>
        <p:spPr>
          <a:xfrm>
            <a:off x="7708198" y="4988861"/>
            <a:ext cx="10861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二等辺三角形 107">
            <a:extLst>
              <a:ext uri="{FF2B5EF4-FFF2-40B4-BE49-F238E27FC236}">
                <a16:creationId xmlns:a16="http://schemas.microsoft.com/office/drawing/2014/main" id="{98B5B810-9B3E-E58B-6DC9-44A23531B349}"/>
              </a:ext>
            </a:extLst>
          </p:cNvPr>
          <p:cNvSpPr/>
          <p:nvPr/>
        </p:nvSpPr>
        <p:spPr>
          <a:xfrm>
            <a:off x="8610497" y="5051549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" name="二等辺三角形 109">
            <a:extLst>
              <a:ext uri="{FF2B5EF4-FFF2-40B4-BE49-F238E27FC236}">
                <a16:creationId xmlns:a16="http://schemas.microsoft.com/office/drawing/2014/main" id="{ED80E6ED-1A10-A7F8-2419-24669E727CFB}"/>
              </a:ext>
            </a:extLst>
          </p:cNvPr>
          <p:cNvSpPr/>
          <p:nvPr/>
        </p:nvSpPr>
        <p:spPr>
          <a:xfrm rot="10800000">
            <a:off x="8610497" y="5214396"/>
            <a:ext cx="117188" cy="10015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B76C37BF-A754-C032-A906-1692232C4AE4}"/>
              </a:ext>
            </a:extLst>
          </p:cNvPr>
          <p:cNvSpPr txBox="1"/>
          <p:nvPr/>
        </p:nvSpPr>
        <p:spPr>
          <a:xfrm>
            <a:off x="4272657" y="2942786"/>
            <a:ext cx="762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chemeClr val="bg1"/>
                </a:solidFill>
              </a:rPr>
              <a:t>上限</a:t>
            </a:r>
          </a:p>
        </p:txBody>
      </p: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F6F76085-8A18-4884-38D1-AB367AA6252E}"/>
              </a:ext>
            </a:extLst>
          </p:cNvPr>
          <p:cNvSpPr txBox="1"/>
          <p:nvPr/>
        </p:nvSpPr>
        <p:spPr>
          <a:xfrm>
            <a:off x="7869846" y="2914194"/>
            <a:ext cx="762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chemeClr val="bg1"/>
                </a:solidFill>
              </a:rPr>
              <a:t>上限</a:t>
            </a:r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190A1B67-9A3A-6BA9-F164-2E8350FB6C57}"/>
              </a:ext>
            </a:extLst>
          </p:cNvPr>
          <p:cNvSpPr txBox="1"/>
          <p:nvPr/>
        </p:nvSpPr>
        <p:spPr>
          <a:xfrm>
            <a:off x="5969430" y="2934793"/>
            <a:ext cx="762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</a:rPr>
              <a:t>下</a:t>
            </a:r>
            <a:r>
              <a:rPr kumimoji="1" lang="ja-JP" altLang="en-US" sz="1600" dirty="0">
                <a:solidFill>
                  <a:schemeClr val="bg1"/>
                </a:solidFill>
              </a:rPr>
              <a:t>限</a:t>
            </a:r>
          </a:p>
        </p:txBody>
      </p: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1ED6F60A-B85B-9EA6-D2D3-F144F3F36510}"/>
              </a:ext>
            </a:extLst>
          </p:cNvPr>
          <p:cNvSpPr txBox="1"/>
          <p:nvPr/>
        </p:nvSpPr>
        <p:spPr>
          <a:xfrm>
            <a:off x="9566619" y="2914194"/>
            <a:ext cx="762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</a:rPr>
              <a:t>下</a:t>
            </a:r>
            <a:r>
              <a:rPr kumimoji="1" lang="ja-JP" altLang="en-US" sz="1600" dirty="0">
                <a:solidFill>
                  <a:schemeClr val="bg1"/>
                </a:solidFill>
              </a:rPr>
              <a:t>限</a:t>
            </a:r>
          </a:p>
        </p:txBody>
      </p: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FF9DAB00-3DAF-B5DF-5D35-0FE4176F0055}"/>
              </a:ext>
            </a:extLst>
          </p:cNvPr>
          <p:cNvCxnSpPr>
            <a:cxnSpLocks/>
          </p:cNvCxnSpPr>
          <p:nvPr/>
        </p:nvCxnSpPr>
        <p:spPr>
          <a:xfrm flipV="1">
            <a:off x="7337714" y="2275898"/>
            <a:ext cx="0" cy="339672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F0D09D0-D27F-627A-3B06-9E7136554972}"/>
              </a:ext>
            </a:extLst>
          </p:cNvPr>
          <p:cNvSpPr txBox="1"/>
          <p:nvPr/>
        </p:nvSpPr>
        <p:spPr>
          <a:xfrm>
            <a:off x="2784645" y="1234696"/>
            <a:ext cx="3284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solidFill>
                  <a:srgbClr val="FF0000"/>
                </a:solidFill>
              </a:rPr>
              <a:t>センサーと通信ができませんでした。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5594670-1B2C-44D7-9065-6BA4B055DC91}"/>
              </a:ext>
            </a:extLst>
          </p:cNvPr>
          <p:cNvSpPr/>
          <p:nvPr/>
        </p:nvSpPr>
        <p:spPr>
          <a:xfrm>
            <a:off x="11116045" y="603724"/>
            <a:ext cx="191852" cy="2114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245627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260</Words>
  <Application>Microsoft Office PowerPoint</Application>
  <PresentationFormat>ワイド画面</PresentationFormat>
  <Paragraphs>130</Paragraphs>
  <Slides>8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室内環境測定アプリ 画面仕様書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陽登 深井</dc:creator>
  <cp:lastModifiedBy>陽登 深井</cp:lastModifiedBy>
  <cp:revision>156</cp:revision>
  <dcterms:created xsi:type="dcterms:W3CDTF">2026-05-31T04:18:59Z</dcterms:created>
  <dcterms:modified xsi:type="dcterms:W3CDTF">2026-06-14T14:38:03Z</dcterms:modified>
</cp:coreProperties>
</file>