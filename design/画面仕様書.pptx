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4" r:id="rId9"/>
    <p:sldId id="260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CE106-13F6-4A27-9E19-06326CC483AB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9FCE7-5AF9-44AD-ACAA-99685D4CA8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842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ホーム画面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610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気温画面（時間タブ）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3210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7C65-1A69-FA2C-90D7-0E07A0D0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0727A32-C7D4-A950-0F14-CE8960B4E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409E58-0335-D214-4012-A278E5520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気温画面（日タブ）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63A27C-C07D-1436-7272-A899A4394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70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C618-0BC3-45AE-1FF4-5C58D875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2B694A-F4E7-62C9-16D1-D91C1D9B0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8C4C31-8E16-8CB8-DE24-DF4ECB911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湿度画面（日タブ）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8E5006-218F-5A94-59EE-974FD0CD3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524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湿度画面（時間タブ）、降水量は一日の累計を記録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106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気圧画面（時間タブ）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351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B13F-8580-7F52-0AF2-E68A0FEE8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DCDFF97-CBD3-1246-E6F4-3DE084BC7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93C0315-6287-1753-A741-015ED8033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気圧画面（日タブ）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C9E352-CE0B-EF95-64EE-650931E50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821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設定画面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9FCE7-5AF9-44AD-ACAA-99685D4CA8D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67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D68FD-1A8F-BF4E-54AF-2A1BE7CF6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46988D-C917-FECB-C9BA-E351BE3BB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FE3B21-308D-53AA-42BB-7F26945E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01E70B-9073-B2DB-C4E1-43B9FA37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1F570E-6BD3-BCC6-F981-BFF09C44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28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7F0DE-BD2E-D112-FF02-01FA0404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A10A38-87C5-65BC-355A-6BD4D047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C05C44-2F72-FEB7-E84C-84D7D34F7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8A94D7-E66C-6273-604A-189835C1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CCE6F7-DC78-A9B7-3D3B-FBF63E49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34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E51034-C0A5-BFDB-2863-4C16190E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C065D1-556D-746D-CEC2-6B933C08C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4D4A81-1DEF-9D42-442C-D2D72FA3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653DC5-C8B3-100E-A726-FF427B5E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00E958-0EEC-D661-99E4-E9FDE89F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18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4C6DF-EA19-9970-1347-3EC6DC77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2166EC-46BF-2E54-FD46-E4EF6CEF5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50F81A-6BB8-F6B3-05E4-D3EF446B6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F57DC5-2583-52AA-6EA1-539BF660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550E4B-3B8C-16BF-162C-4DD1FD8F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A57EDA-FE69-DEA5-8626-753FC223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01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B0907F-97D5-4614-0FED-5225D730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22FA87-0AAA-FEB1-4668-63A4F6303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4FCE3B-F0B1-E42A-0330-FFE25A84F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8EAF96-FDD4-5D2F-C4A2-62661C3AE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2C40C3-D3C8-B8BE-E1C2-01C917A1B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F69284-96CA-4A41-7366-216C5C55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046D58-3E4A-1ED4-A0F6-821A3B3D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08BBD2E-E9AA-1772-275E-841AA437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95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0DF08-8C19-7DA9-1758-BF2CA8C0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649E192-CA30-DC5A-C5D0-F28660FF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7A172B-3E4F-9271-2566-00C5E3B1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7A2552-047C-C063-F227-C9ABF8DA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334B3B8-3C8E-4ABC-0833-14A2E662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3597ECD-E53E-680C-DB92-249D827C2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6230A8-0466-A2DF-36C2-7B3BD3870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41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90CAFB-6F8E-CA7B-A6F1-0201FE7B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916D05-FE2C-E772-773F-768B2A3F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E1E85F-1433-1B1E-D4E8-625A3D08E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E4C8EF-BBCB-82D3-CFF6-71C5424A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C4B284-35C8-AB44-26B7-7FF89130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1680C0-F01E-93BA-A440-5E1DB18B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60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E29E03-E03B-05C5-2906-51745CA0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5571A44-3A73-58B4-392D-3C9D630A9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ECA0CE-B82B-76FC-4D69-273A8A2D7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4554F3-C81C-7C09-9FF6-8503F1E8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FD2097-2CD1-919D-D35F-57E39D6B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0FCF98-4145-69FA-FE36-B6B683C4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6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48B4A-6EC6-7F0E-FB2C-00C72612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661871-9A13-2CDB-98E0-B27FE4089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12C7D1-B11B-214C-21E4-8CEA696B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10916D-EAFB-17F0-7342-11B27D29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274D8A-7982-69F9-0E69-E6A048E2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920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D63C72-E42B-0FAD-5507-17CEE28CA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F0EAB3-B75A-3E5E-3DCE-33A7EFC3A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81C50A-6B42-8D4B-30FE-49641BF6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9575E5-9E5D-7842-4710-9FF25E2CC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20FD2E-5B6A-7458-C78C-EDF63939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03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9F28AAA-670A-B629-EC4C-05497F10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251D11-6964-65EA-197F-92FA1AB02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55AD20-522B-6929-E2FE-1EE4E9F7F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24320-ECA2-4F1C-B2BB-B36D7417EB0C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7809A8-C7AC-C31B-E425-8B638CCE6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604BC2-56CD-80C6-A5A4-0D4D175D0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34155-4CC2-4CAD-8C0A-72977A46D7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80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4DC5E-B75A-A3D4-6E88-BEBBC5089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kumimoji="1" lang="ja-JP" altLang="en-US" dirty="0"/>
              <a:t>室内環境測定アプリ</a:t>
            </a:r>
            <a:br>
              <a:rPr kumimoji="1" lang="en-US" altLang="ja-JP" dirty="0"/>
            </a:br>
            <a:r>
              <a:rPr kumimoji="1" lang="ja-JP" altLang="en-US" dirty="0"/>
              <a:t>画面仕様書</a:t>
            </a:r>
          </a:p>
        </p:txBody>
      </p:sp>
    </p:spTree>
    <p:extLst>
      <p:ext uri="{BB962C8B-B14F-4D97-AF65-F5344CB8AC3E}">
        <p14:creationId xmlns:p14="http://schemas.microsoft.com/office/powerpoint/2010/main" val="346540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287946-75CA-E122-7BAC-C61146AB699B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E3167D-2400-0B33-271B-3A32CC3768EE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室内環境計測・通知システム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20C90F-EF87-64E2-F20E-828BA66DDE72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/>
              <a:t>気温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7065D2-60E1-4E21-B2EF-2A96230B07F1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/>
              <a:t>湿度</a:t>
            </a:r>
            <a:endParaRPr kumimoji="1" lang="ja-JP" altLang="en-US" sz="1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DCF007-1B5C-EECE-4E39-035F78537DCA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/>
              <a:t>気圧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41616C7-2F83-03B6-81E7-6DE0C4A5E94E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/>
              <a:t>設定</a:t>
            </a:r>
            <a:endParaRPr kumimoji="1" lang="ja-JP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9648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64BF-D15D-93E3-B13C-5A56B2C2A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5EE152-307C-61EC-5DF7-289C942CDF3B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E4DAC5B-4AFB-958B-406B-04EBAC218013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3C278D8-3728-8778-3D85-5E40D2D79592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rgbClr val="00B0F0"/>
                </a:solidFill>
              </a:rPr>
              <a:t>気温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B17C31A-E0A9-678B-E833-B6561D416BFC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湿度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3553811-0C9A-0C3F-BCC1-016DE7249000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</a:rPr>
              <a:t>気圧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71574E2-9C1B-E030-0539-474C717179B1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設定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17" name="四角形: 上の 2 つの角を丸める 16">
            <a:extLst>
              <a:ext uri="{FF2B5EF4-FFF2-40B4-BE49-F238E27FC236}">
                <a16:creationId xmlns:a16="http://schemas.microsoft.com/office/drawing/2014/main" id="{FA3BB7CD-0FED-6A8F-A048-F5C44E2C1FF7}"/>
              </a:ext>
            </a:extLst>
          </p:cNvPr>
          <p:cNvSpPr/>
          <p:nvPr/>
        </p:nvSpPr>
        <p:spPr>
          <a:xfrm>
            <a:off x="1163781" y="1275653"/>
            <a:ext cx="858981" cy="369333"/>
          </a:xfrm>
          <a:prstGeom prst="round2SameRect">
            <a:avLst/>
          </a:prstGeom>
          <a:solidFill>
            <a:srgbClr val="00B0F0"/>
          </a:solidFill>
          <a:ln w="28575"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bg1"/>
                </a:solidFill>
              </a:rPr>
              <a:t>時間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043611F-0F84-EA21-8EB2-A9389EF40DEC}"/>
              </a:ext>
            </a:extLst>
          </p:cNvPr>
          <p:cNvSpPr/>
          <p:nvPr/>
        </p:nvSpPr>
        <p:spPr>
          <a:xfrm>
            <a:off x="1163781" y="1653309"/>
            <a:ext cx="9864437" cy="456738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75E03D49-296B-3F60-AAA3-CDB7F1AFC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43" y="1752920"/>
            <a:ext cx="174568" cy="24604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C0240C97-5291-931E-9489-B9C3905FB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62624" y="1752920"/>
            <a:ext cx="174567" cy="246045"/>
          </a:xfrm>
          <a:prstGeom prst="rect">
            <a:avLst/>
          </a:prstGeom>
        </p:spPr>
      </p:pic>
      <p:sp>
        <p:nvSpPr>
          <p:cNvPr id="26" name="四角形: 上の 2 つの角を丸める 25">
            <a:extLst>
              <a:ext uri="{FF2B5EF4-FFF2-40B4-BE49-F238E27FC236}">
                <a16:creationId xmlns:a16="http://schemas.microsoft.com/office/drawing/2014/main" id="{F871D6AE-95A9-F670-4DC9-497391D77B49}"/>
              </a:ext>
            </a:extLst>
          </p:cNvPr>
          <p:cNvSpPr/>
          <p:nvPr/>
        </p:nvSpPr>
        <p:spPr>
          <a:xfrm>
            <a:off x="2119744" y="1273824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 dirty="0">
                <a:solidFill>
                  <a:schemeClr val="bg1"/>
                </a:solidFill>
              </a:rPr>
              <a:t>日</a:t>
            </a:r>
            <a:endParaRPr kumimoji="1" lang="ja-JP" altLang="en-US" sz="1600" b="1" dirty="0">
              <a:solidFill>
                <a:schemeClr val="bg1"/>
              </a:solidFill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11ED4AB6-E5EB-42CC-AAE8-95C45B620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727" y="2390555"/>
            <a:ext cx="6873977" cy="343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1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D98A-B119-15F7-BCDA-AA0F5D8B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6AAB5A-12B9-A4A0-3310-940F4F54CF37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98BAC3-5762-4E96-6515-24AB5F35559B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0C98517-1B88-DA31-BB49-3533459E749F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rgbClr val="00B0F0"/>
                </a:solidFill>
              </a:rPr>
              <a:t>気温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526478-FE3E-9640-2ECE-D8231D4AED22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湿度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33385A-2B8A-399C-6BCC-BD24BF6A6FF4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</a:rPr>
              <a:t>気圧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A1803D-3048-5B3A-3606-6C9D379B4D4D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設定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0A2402A8-F668-C1BB-A20C-EA15FA60AFF0}"/>
              </a:ext>
            </a:extLst>
          </p:cNvPr>
          <p:cNvSpPr/>
          <p:nvPr/>
        </p:nvSpPr>
        <p:spPr>
          <a:xfrm>
            <a:off x="1163781" y="1275653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</a:rPr>
              <a:t>時間</a:t>
            </a:r>
          </a:p>
        </p:txBody>
      </p:sp>
      <p:sp>
        <p:nvSpPr>
          <p:cNvPr id="3" name="四角形: 上の 2 つの角を丸める 2">
            <a:extLst>
              <a:ext uri="{FF2B5EF4-FFF2-40B4-BE49-F238E27FC236}">
                <a16:creationId xmlns:a16="http://schemas.microsoft.com/office/drawing/2014/main" id="{3594491C-DE0D-BA7E-5C96-7CA57BB1FA06}"/>
              </a:ext>
            </a:extLst>
          </p:cNvPr>
          <p:cNvSpPr/>
          <p:nvPr/>
        </p:nvSpPr>
        <p:spPr>
          <a:xfrm>
            <a:off x="2115126" y="1283975"/>
            <a:ext cx="858981" cy="369333"/>
          </a:xfrm>
          <a:prstGeom prst="round2SameRect">
            <a:avLst/>
          </a:prstGeom>
          <a:solidFill>
            <a:srgbClr val="00B0F0"/>
          </a:solidFill>
          <a:ln w="28575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</a:rPr>
              <a:t>日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4C8D76-7D6C-1B95-73DD-778758265893}"/>
              </a:ext>
            </a:extLst>
          </p:cNvPr>
          <p:cNvSpPr/>
          <p:nvPr/>
        </p:nvSpPr>
        <p:spPr>
          <a:xfrm>
            <a:off x="1163781" y="1653309"/>
            <a:ext cx="9864437" cy="456738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7028FA7-6230-6FB9-3F6F-2845B7EAA8DE}"/>
              </a:ext>
            </a:extLst>
          </p:cNvPr>
          <p:cNvSpPr txBox="1"/>
          <p:nvPr/>
        </p:nvSpPr>
        <p:spPr>
          <a:xfrm>
            <a:off x="1505525" y="1889775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室内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007A463-ED5A-7805-14D3-22A55E5DC276}"/>
              </a:ext>
            </a:extLst>
          </p:cNvPr>
          <p:cNvSpPr txBox="1"/>
          <p:nvPr/>
        </p:nvSpPr>
        <p:spPr>
          <a:xfrm>
            <a:off x="1505525" y="4010508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</a:rPr>
              <a:t>室外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C282B5DB-99F1-D3E8-1223-9B24C8F81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923514"/>
              </p:ext>
            </p:extLst>
          </p:nvPr>
        </p:nvGraphicFramePr>
        <p:xfrm>
          <a:off x="1505523" y="2183632"/>
          <a:ext cx="9077040" cy="174244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605136">
                  <a:extLst>
                    <a:ext uri="{9D8B030D-6E8A-4147-A177-3AD203B41FA5}">
                      <a16:colId xmlns:a16="http://schemas.microsoft.com/office/drawing/2014/main" val="260313433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982934894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81863597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38631009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1552711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29861744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508389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745456965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452325893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0498778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72582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375699187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25702781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7942438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421933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</a:t>
                      </a:r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74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天気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97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最高</a:t>
                      </a: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℃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59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最低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℃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860361"/>
                  </a:ext>
                </a:extLst>
              </a:tr>
            </a:tbl>
          </a:graphicData>
        </a:graphic>
      </p:graphicFrame>
      <p:graphicFrame>
        <p:nvGraphicFramePr>
          <p:cNvPr id="24" name="表 23">
            <a:extLst>
              <a:ext uri="{FF2B5EF4-FFF2-40B4-BE49-F238E27FC236}">
                <a16:creationId xmlns:a16="http://schemas.microsoft.com/office/drawing/2014/main" id="{4C798AAA-B98F-E4AF-803B-894BA3985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783559"/>
              </p:ext>
            </p:extLst>
          </p:nvPr>
        </p:nvGraphicFramePr>
        <p:xfrm>
          <a:off x="1505523" y="4318285"/>
          <a:ext cx="9077040" cy="174244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605136">
                  <a:extLst>
                    <a:ext uri="{9D8B030D-6E8A-4147-A177-3AD203B41FA5}">
                      <a16:colId xmlns:a16="http://schemas.microsoft.com/office/drawing/2014/main" val="260313433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982934894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81863597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38631009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1552711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29861744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508389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745456965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452325893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0498778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72582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375699187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25702781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7942438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421933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</a:t>
                      </a:r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74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天気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97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最高</a:t>
                      </a: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℃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31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59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最低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℃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860361"/>
                  </a:ext>
                </a:extLst>
              </a:tr>
            </a:tbl>
          </a:graphicData>
        </a:graphic>
      </p:graphicFrame>
      <p:pic>
        <p:nvPicPr>
          <p:cNvPr id="28" name="図 27">
            <a:extLst>
              <a:ext uri="{FF2B5EF4-FFF2-40B4-BE49-F238E27FC236}">
                <a16:creationId xmlns:a16="http://schemas.microsoft.com/office/drawing/2014/main" id="{8493E2B8-1D7A-0F8E-7F80-067EEFA48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43" y="1752920"/>
            <a:ext cx="174568" cy="246045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9757A6D0-9818-2DE5-9197-6901C4B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62624" y="1752920"/>
            <a:ext cx="174567" cy="2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CEDE-34EB-89B2-ADEA-A9ADCD0C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F27A97E-6FBD-3134-6401-E426CFCBD378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8FB257-F91D-6629-B6F8-422489B8C22B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室内環境計測・通知システム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A50C80-AD72-0F1F-C460-C955E8D9369D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/>
              <a:t>気温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22CC03-235F-C0F9-3AA3-02397D4B1A6E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rgbClr val="00B0F0"/>
                </a:solidFill>
              </a:rPr>
              <a:t>湿度</a:t>
            </a:r>
            <a:endParaRPr kumimoji="1" lang="ja-JP" altLang="en-US" sz="1400" b="1" dirty="0">
              <a:solidFill>
                <a:srgbClr val="00B0F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52A401B-BCF9-BB13-AE39-7C23606320F9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/>
              <a:t>気圧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962915-749A-8D61-DB40-D93BE8193AF1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/>
              <a:t>設定</a:t>
            </a:r>
            <a:endParaRPr kumimoji="1" lang="ja-JP" altLang="en-US" sz="1400" b="1" dirty="0"/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B087FA75-3B2E-EF04-97CC-C7FA15A42D92}"/>
              </a:ext>
            </a:extLst>
          </p:cNvPr>
          <p:cNvSpPr/>
          <p:nvPr/>
        </p:nvSpPr>
        <p:spPr>
          <a:xfrm>
            <a:off x="1163782" y="1570182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ysClr val="windowText" lastClr="000000"/>
                </a:solidFill>
              </a:rPr>
              <a:t>時間</a:t>
            </a:r>
          </a:p>
        </p:txBody>
      </p:sp>
      <p:sp>
        <p:nvSpPr>
          <p:cNvPr id="3" name="四角形: 上の 2 つの角を丸める 2">
            <a:extLst>
              <a:ext uri="{FF2B5EF4-FFF2-40B4-BE49-F238E27FC236}">
                <a16:creationId xmlns:a16="http://schemas.microsoft.com/office/drawing/2014/main" id="{D605A493-456A-7789-3660-6FE5CE98A0C4}"/>
              </a:ext>
            </a:extLst>
          </p:cNvPr>
          <p:cNvSpPr/>
          <p:nvPr/>
        </p:nvSpPr>
        <p:spPr>
          <a:xfrm>
            <a:off x="2133599" y="1570181"/>
            <a:ext cx="858981" cy="369333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ysClr val="windowText" lastClr="000000"/>
                </a:solidFill>
              </a:rPr>
              <a:t>日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D2531EE-DB13-E296-7320-CF5E4E88738F}"/>
              </a:ext>
            </a:extLst>
          </p:cNvPr>
          <p:cNvSpPr/>
          <p:nvPr/>
        </p:nvSpPr>
        <p:spPr>
          <a:xfrm>
            <a:off x="1163781" y="1939514"/>
            <a:ext cx="9864437" cy="4219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940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11A00-87D4-A109-D937-8E21B196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E599CE-A783-3615-9044-E563B5BAFBAB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6B7532-FD64-BA88-4FF4-435540841A7C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7BBE682-FB59-3B2F-EE24-3873558D601B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</a:rPr>
              <a:t>気温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8300853-187D-037A-5591-B59F7367B999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rgbClr val="00B0F0"/>
                </a:solidFill>
              </a:rPr>
              <a:t>湿度</a:t>
            </a:r>
            <a:endParaRPr kumimoji="1" lang="ja-JP" altLang="en-US" sz="1400" b="1" dirty="0">
              <a:solidFill>
                <a:srgbClr val="00B0F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7389623-368C-F351-A4CF-D1014352B5F1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</a:rPr>
              <a:t>気圧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9529974-19D2-2BC9-393E-38F6B27AD41F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設定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A0987CA-D68D-D663-4FD1-A042CC836F2A}"/>
              </a:ext>
            </a:extLst>
          </p:cNvPr>
          <p:cNvSpPr/>
          <p:nvPr/>
        </p:nvSpPr>
        <p:spPr>
          <a:xfrm>
            <a:off x="1163781" y="1653309"/>
            <a:ext cx="9864437" cy="456738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98A531-8EF1-6F57-ACED-DF8137F99C38}"/>
              </a:ext>
            </a:extLst>
          </p:cNvPr>
          <p:cNvSpPr txBox="1"/>
          <p:nvPr/>
        </p:nvSpPr>
        <p:spPr>
          <a:xfrm>
            <a:off x="1505525" y="2088742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室内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62F52B-C65B-3EEA-41A9-C1EBC57D3CDE}"/>
              </a:ext>
            </a:extLst>
          </p:cNvPr>
          <p:cNvSpPr txBox="1"/>
          <p:nvPr/>
        </p:nvSpPr>
        <p:spPr>
          <a:xfrm>
            <a:off x="1505525" y="4155678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</a:rPr>
              <a:t>室外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02671011-30A4-4BE8-D2B8-D9C4BCFDF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687037"/>
              </p:ext>
            </p:extLst>
          </p:nvPr>
        </p:nvGraphicFramePr>
        <p:xfrm>
          <a:off x="1505523" y="2382599"/>
          <a:ext cx="9077040" cy="13716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646550">
                  <a:extLst>
                    <a:ext uri="{9D8B030D-6E8A-4147-A177-3AD203B41FA5}">
                      <a16:colId xmlns:a16="http://schemas.microsoft.com/office/drawing/2014/main" val="2603134336"/>
                    </a:ext>
                  </a:extLst>
                </a:gridCol>
                <a:gridCol w="563722">
                  <a:extLst>
                    <a:ext uri="{9D8B030D-6E8A-4147-A177-3AD203B41FA5}">
                      <a16:colId xmlns:a16="http://schemas.microsoft.com/office/drawing/2014/main" val="1982934894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81863597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38631009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1552711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29861744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508389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745456965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452325893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0498778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72582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375699187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25702781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7942438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421933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</a:t>
                      </a:r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74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最高</a:t>
                      </a:r>
                      <a:r>
                        <a:rPr kumimoji="1" lang="en-US" altLang="ja-JP" sz="1200" b="1" dirty="0"/>
                        <a:t>(%)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59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最低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en-US" altLang="ja-JP" sz="1200" b="1" dirty="0"/>
                        <a:t>(%)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860361"/>
                  </a:ext>
                </a:extLst>
              </a:tr>
            </a:tbl>
          </a:graphicData>
        </a:graphic>
      </p:graphicFrame>
      <p:pic>
        <p:nvPicPr>
          <p:cNvPr id="23" name="図 22">
            <a:extLst>
              <a:ext uri="{FF2B5EF4-FFF2-40B4-BE49-F238E27FC236}">
                <a16:creationId xmlns:a16="http://schemas.microsoft.com/office/drawing/2014/main" id="{4D25508F-AD18-DDA6-52B0-88D176CB9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43" y="1752920"/>
            <a:ext cx="174568" cy="24604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AEAEBDA-355F-5E53-19AA-96F6A520E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62624" y="1752920"/>
            <a:ext cx="174567" cy="246045"/>
          </a:xfrm>
          <a:prstGeom prst="rect">
            <a:avLst/>
          </a:prstGeom>
        </p:spPr>
      </p:pic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84863416-CA63-F620-A345-A1D9B0954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86785"/>
              </p:ext>
            </p:extLst>
          </p:nvPr>
        </p:nvGraphicFramePr>
        <p:xfrm>
          <a:off x="1505523" y="4447611"/>
          <a:ext cx="9077040" cy="13716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646550">
                  <a:extLst>
                    <a:ext uri="{9D8B030D-6E8A-4147-A177-3AD203B41FA5}">
                      <a16:colId xmlns:a16="http://schemas.microsoft.com/office/drawing/2014/main" val="2603134336"/>
                    </a:ext>
                  </a:extLst>
                </a:gridCol>
                <a:gridCol w="563722">
                  <a:extLst>
                    <a:ext uri="{9D8B030D-6E8A-4147-A177-3AD203B41FA5}">
                      <a16:colId xmlns:a16="http://schemas.microsoft.com/office/drawing/2014/main" val="1982934894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81863597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38631009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1552711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29861744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508389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745456965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452325893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0498778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72582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375699187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25702781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7942438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421933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</a:t>
                      </a:r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74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最高</a:t>
                      </a:r>
                      <a:r>
                        <a:rPr kumimoji="1" lang="en-US" altLang="ja-JP" sz="1200" b="1" dirty="0"/>
                        <a:t>(%)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59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最低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en-US" altLang="ja-JP" sz="1200" b="1" dirty="0"/>
                        <a:t>(%)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860361"/>
                  </a:ext>
                </a:extLst>
              </a:tr>
            </a:tbl>
          </a:graphicData>
        </a:graphic>
      </p:graphicFrame>
      <p:sp>
        <p:nvSpPr>
          <p:cNvPr id="29" name="四角形: 上の 2 つの角を丸める 28">
            <a:extLst>
              <a:ext uri="{FF2B5EF4-FFF2-40B4-BE49-F238E27FC236}">
                <a16:creationId xmlns:a16="http://schemas.microsoft.com/office/drawing/2014/main" id="{73333031-32EB-2019-C895-23F3040617B3}"/>
              </a:ext>
            </a:extLst>
          </p:cNvPr>
          <p:cNvSpPr/>
          <p:nvPr/>
        </p:nvSpPr>
        <p:spPr>
          <a:xfrm>
            <a:off x="1163781" y="1275653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</a:rPr>
              <a:t>時間</a:t>
            </a:r>
          </a:p>
        </p:txBody>
      </p:sp>
      <p:sp>
        <p:nvSpPr>
          <p:cNvPr id="30" name="四角形: 上の 2 つの角を丸める 29">
            <a:extLst>
              <a:ext uri="{FF2B5EF4-FFF2-40B4-BE49-F238E27FC236}">
                <a16:creationId xmlns:a16="http://schemas.microsoft.com/office/drawing/2014/main" id="{8327D17A-07BD-07A9-7B41-3AF9FDDBCBDF}"/>
              </a:ext>
            </a:extLst>
          </p:cNvPr>
          <p:cNvSpPr/>
          <p:nvPr/>
        </p:nvSpPr>
        <p:spPr>
          <a:xfrm>
            <a:off x="2115126" y="1283975"/>
            <a:ext cx="858981" cy="369333"/>
          </a:xfrm>
          <a:prstGeom prst="round2SameRect">
            <a:avLst/>
          </a:prstGeom>
          <a:solidFill>
            <a:srgbClr val="00B0F0"/>
          </a:solidFill>
          <a:ln w="28575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86058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A97A4-5D07-7734-0373-B6DC074D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0C8812F-D58D-2BBD-8ED1-F885CF6C5284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935F9B-E0E5-D71C-6A60-191ED49C1282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室内環境計測・通知システム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8C71884-522A-E53B-C328-E7EEFCC2CDB7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/>
              <a:t>気温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19BA6B-5D39-E32E-7319-5BB87EF31E68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/>
              <a:t>湿度</a:t>
            </a:r>
            <a:endParaRPr kumimoji="1" lang="ja-JP" altLang="en-US" sz="1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EB60CCC-9B1D-C19F-D66D-77A041E1F0D3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rgbClr val="00B0F0"/>
                </a:solidFill>
              </a:rPr>
              <a:t>気圧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42B569-F187-ACB4-1FA9-94AFE3228B26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/>
              <a:t>設定</a:t>
            </a:r>
            <a:endParaRPr kumimoji="1" lang="ja-JP" altLang="en-US" sz="1400" b="1" dirty="0"/>
          </a:p>
        </p:txBody>
      </p:sp>
      <p:sp>
        <p:nvSpPr>
          <p:cNvPr id="2" name="四角形: 上の 2 つの角を丸める 1">
            <a:extLst>
              <a:ext uri="{FF2B5EF4-FFF2-40B4-BE49-F238E27FC236}">
                <a16:creationId xmlns:a16="http://schemas.microsoft.com/office/drawing/2014/main" id="{18C74B66-DB1E-1A7E-4758-981EF331E989}"/>
              </a:ext>
            </a:extLst>
          </p:cNvPr>
          <p:cNvSpPr/>
          <p:nvPr/>
        </p:nvSpPr>
        <p:spPr>
          <a:xfrm>
            <a:off x="1163782" y="1570182"/>
            <a:ext cx="858981" cy="369333"/>
          </a:xfrm>
          <a:prstGeom prst="round2Same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ysClr val="windowText" lastClr="000000"/>
                </a:solidFill>
              </a:rPr>
              <a:t>時間</a:t>
            </a:r>
          </a:p>
        </p:txBody>
      </p:sp>
      <p:sp>
        <p:nvSpPr>
          <p:cNvPr id="3" name="四角形: 上の 2 つの角を丸める 2">
            <a:extLst>
              <a:ext uri="{FF2B5EF4-FFF2-40B4-BE49-F238E27FC236}">
                <a16:creationId xmlns:a16="http://schemas.microsoft.com/office/drawing/2014/main" id="{252C86C8-9E6D-37B2-6466-F59CC484A5EF}"/>
              </a:ext>
            </a:extLst>
          </p:cNvPr>
          <p:cNvSpPr/>
          <p:nvPr/>
        </p:nvSpPr>
        <p:spPr>
          <a:xfrm>
            <a:off x="2133599" y="1570181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ysClr val="windowText" lastClr="000000"/>
                </a:solidFill>
              </a:rPr>
              <a:t>日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1A53D29-62C2-2885-8C8C-12D9E5E630D5}"/>
              </a:ext>
            </a:extLst>
          </p:cNvPr>
          <p:cNvSpPr/>
          <p:nvPr/>
        </p:nvSpPr>
        <p:spPr>
          <a:xfrm>
            <a:off x="1163781" y="1939514"/>
            <a:ext cx="9864437" cy="4219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107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3223-A5D2-0162-3C2E-23C5949C9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8AA0A79-AEEA-865D-62D3-B8EBAB6CE7F1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1C9F85B-E983-ECCD-C57C-96A34BFBBA40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室内環境計測・通知システム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C9F5ABF-9B67-D4A5-E3CA-3458958F5E9C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</a:rPr>
              <a:t>気温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EBA6F9D-A003-819E-5652-DE4886510F95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湿度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BA5DF6C-4633-1B08-DC05-1E74B1578957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>
                <a:solidFill>
                  <a:srgbClr val="00B0F0"/>
                </a:solidFill>
              </a:rPr>
              <a:t>気圧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DE08766-1D86-7917-F58C-B85C946F2BD8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</a:rPr>
              <a:t>設定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33C7FE1-C56C-A137-35E6-11FFE561D533}"/>
              </a:ext>
            </a:extLst>
          </p:cNvPr>
          <p:cNvSpPr/>
          <p:nvPr/>
        </p:nvSpPr>
        <p:spPr>
          <a:xfrm>
            <a:off x="1163781" y="1653309"/>
            <a:ext cx="9864437" cy="456738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42DAC51-64D4-4D7C-B9DB-177B62CE892B}"/>
              </a:ext>
            </a:extLst>
          </p:cNvPr>
          <p:cNvSpPr txBox="1"/>
          <p:nvPr/>
        </p:nvSpPr>
        <p:spPr>
          <a:xfrm>
            <a:off x="1505525" y="2088742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bg1"/>
                </a:solidFill>
              </a:rPr>
              <a:t>室内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A569D6A-CA51-417D-21A1-A6360B47F5D8}"/>
              </a:ext>
            </a:extLst>
          </p:cNvPr>
          <p:cNvSpPr txBox="1"/>
          <p:nvPr/>
        </p:nvSpPr>
        <p:spPr>
          <a:xfrm>
            <a:off x="1505525" y="4155678"/>
            <a:ext cx="905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bg1"/>
                </a:solidFill>
              </a:rPr>
              <a:t>室外</a:t>
            </a:r>
            <a:endParaRPr kumimoji="1" lang="ja-JP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35" name="表 34">
            <a:extLst>
              <a:ext uri="{FF2B5EF4-FFF2-40B4-BE49-F238E27FC236}">
                <a16:creationId xmlns:a16="http://schemas.microsoft.com/office/drawing/2014/main" id="{15529F3A-8A6C-0DE8-561C-E575DEF9D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64342"/>
              </p:ext>
            </p:extLst>
          </p:nvPr>
        </p:nvGraphicFramePr>
        <p:xfrm>
          <a:off x="1505523" y="2382599"/>
          <a:ext cx="9077040" cy="13716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646550">
                  <a:extLst>
                    <a:ext uri="{9D8B030D-6E8A-4147-A177-3AD203B41FA5}">
                      <a16:colId xmlns:a16="http://schemas.microsoft.com/office/drawing/2014/main" val="2603134336"/>
                    </a:ext>
                  </a:extLst>
                </a:gridCol>
                <a:gridCol w="563722">
                  <a:extLst>
                    <a:ext uri="{9D8B030D-6E8A-4147-A177-3AD203B41FA5}">
                      <a16:colId xmlns:a16="http://schemas.microsoft.com/office/drawing/2014/main" val="1982934894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81863597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38631009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1552711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29861744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508389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745456965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452325893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0498778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72582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375699187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25702781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7942438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421933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</a:t>
                      </a:r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74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最高</a:t>
                      </a:r>
                      <a:r>
                        <a:rPr kumimoji="1" lang="en-US" altLang="ja-JP" sz="1200" b="1" dirty="0"/>
                        <a:t>(Pa)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59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最低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en-US" altLang="ja-JP" sz="1200" b="1" dirty="0"/>
                        <a:t>(Pa)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860361"/>
                  </a:ext>
                </a:extLst>
              </a:tr>
            </a:tbl>
          </a:graphicData>
        </a:graphic>
      </p:graphicFrame>
      <p:pic>
        <p:nvPicPr>
          <p:cNvPr id="36" name="図 35">
            <a:extLst>
              <a:ext uri="{FF2B5EF4-FFF2-40B4-BE49-F238E27FC236}">
                <a16:creationId xmlns:a16="http://schemas.microsoft.com/office/drawing/2014/main" id="{A361DC03-E3DB-2C19-1DF7-E21F9B65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43" y="1752920"/>
            <a:ext cx="174568" cy="246045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FE4C98AA-CEBE-5A84-E3BB-55A837380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62624" y="1752920"/>
            <a:ext cx="174567" cy="246045"/>
          </a:xfrm>
          <a:prstGeom prst="rect">
            <a:avLst/>
          </a:prstGeom>
        </p:spPr>
      </p:pic>
      <p:graphicFrame>
        <p:nvGraphicFramePr>
          <p:cNvPr id="38" name="表 37">
            <a:extLst>
              <a:ext uri="{FF2B5EF4-FFF2-40B4-BE49-F238E27FC236}">
                <a16:creationId xmlns:a16="http://schemas.microsoft.com/office/drawing/2014/main" id="{950C4AD1-FCC1-BD47-8883-4D2AAB184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442702"/>
              </p:ext>
            </p:extLst>
          </p:nvPr>
        </p:nvGraphicFramePr>
        <p:xfrm>
          <a:off x="1505523" y="4447611"/>
          <a:ext cx="9077040" cy="13716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646550">
                  <a:extLst>
                    <a:ext uri="{9D8B030D-6E8A-4147-A177-3AD203B41FA5}">
                      <a16:colId xmlns:a16="http://schemas.microsoft.com/office/drawing/2014/main" val="2603134336"/>
                    </a:ext>
                  </a:extLst>
                </a:gridCol>
                <a:gridCol w="563722">
                  <a:extLst>
                    <a:ext uri="{9D8B030D-6E8A-4147-A177-3AD203B41FA5}">
                      <a16:colId xmlns:a16="http://schemas.microsoft.com/office/drawing/2014/main" val="1982934894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81863597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38631009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1552711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29861744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5083892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745456965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2452325893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410498778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72582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3756991870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525702781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1679424386"/>
                    </a:ext>
                  </a:extLst>
                </a:gridCol>
                <a:gridCol w="605136">
                  <a:extLst>
                    <a:ext uri="{9D8B030D-6E8A-4147-A177-3AD203B41FA5}">
                      <a16:colId xmlns:a16="http://schemas.microsoft.com/office/drawing/2014/main" val="421933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</a:t>
                      </a:r>
                    </a:p>
                    <a:p>
                      <a:pPr algn="ctr"/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6/5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日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月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火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水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木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金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6/14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/>
                        <a:t>(</a:t>
                      </a:r>
                      <a:r>
                        <a:rPr kumimoji="1" lang="ja-JP" altLang="en-US" sz="1200" b="1" dirty="0"/>
                        <a:t>土</a:t>
                      </a:r>
                      <a:r>
                        <a:rPr kumimoji="1" lang="en-US" altLang="ja-JP" sz="1200" b="1" dirty="0"/>
                        <a:t>)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74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最高</a:t>
                      </a:r>
                      <a:r>
                        <a:rPr kumimoji="1" lang="en-US" altLang="ja-JP" sz="1200" b="1" dirty="0"/>
                        <a:t>(Pa)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1013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59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最低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en-US" altLang="ja-JP" sz="1200" b="1" dirty="0"/>
                        <a:t>(Pa)</a:t>
                      </a:r>
                      <a:endParaRPr kumimoji="1" lang="ja-JP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1010</a:t>
                      </a:r>
                      <a:endParaRPr kumimoji="1" lang="ja-JP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860361"/>
                  </a:ext>
                </a:extLst>
              </a:tr>
            </a:tbl>
          </a:graphicData>
        </a:graphic>
      </p:graphicFrame>
      <p:sp>
        <p:nvSpPr>
          <p:cNvPr id="39" name="四角形: 上の 2 つの角を丸める 38">
            <a:extLst>
              <a:ext uri="{FF2B5EF4-FFF2-40B4-BE49-F238E27FC236}">
                <a16:creationId xmlns:a16="http://schemas.microsoft.com/office/drawing/2014/main" id="{F7E9CCC3-E5B8-2021-C367-7F89E669E2FD}"/>
              </a:ext>
            </a:extLst>
          </p:cNvPr>
          <p:cNvSpPr/>
          <p:nvPr/>
        </p:nvSpPr>
        <p:spPr>
          <a:xfrm>
            <a:off x="1163781" y="1275653"/>
            <a:ext cx="858981" cy="369333"/>
          </a:xfrm>
          <a:prstGeom prst="round2Same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</a:rPr>
              <a:t>時間</a:t>
            </a:r>
          </a:p>
        </p:txBody>
      </p:sp>
      <p:sp>
        <p:nvSpPr>
          <p:cNvPr id="40" name="四角形: 上の 2 つの角を丸める 39">
            <a:extLst>
              <a:ext uri="{FF2B5EF4-FFF2-40B4-BE49-F238E27FC236}">
                <a16:creationId xmlns:a16="http://schemas.microsoft.com/office/drawing/2014/main" id="{1D954DD9-4B3A-D36E-CC60-FCBA657B3A67}"/>
              </a:ext>
            </a:extLst>
          </p:cNvPr>
          <p:cNvSpPr/>
          <p:nvPr/>
        </p:nvSpPr>
        <p:spPr>
          <a:xfrm>
            <a:off x="2115126" y="1283975"/>
            <a:ext cx="858981" cy="369333"/>
          </a:xfrm>
          <a:prstGeom prst="round2SameRect">
            <a:avLst/>
          </a:prstGeom>
          <a:solidFill>
            <a:srgbClr val="00B0F0"/>
          </a:solidFill>
          <a:ln w="28575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22402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3DC99-6002-3736-5238-311BDBAD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82FEC85-F107-F5B9-2256-DE8A7D708B11}"/>
              </a:ext>
            </a:extLst>
          </p:cNvPr>
          <p:cNvSpPr/>
          <p:nvPr/>
        </p:nvSpPr>
        <p:spPr>
          <a:xfrm>
            <a:off x="424872" y="381000"/>
            <a:ext cx="11342255" cy="609600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1F6DFE-AEE8-50B5-EC72-A7B40CBD448B}"/>
              </a:ext>
            </a:extLst>
          </p:cNvPr>
          <p:cNvSpPr txBox="1"/>
          <p:nvPr/>
        </p:nvSpPr>
        <p:spPr>
          <a:xfrm>
            <a:off x="932872" y="637309"/>
            <a:ext cx="3362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室内環境計測・通知システム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F64194D-59C1-362A-969F-ACCBA11F842A}"/>
              </a:ext>
            </a:extLst>
          </p:cNvPr>
          <p:cNvSpPr txBox="1"/>
          <p:nvPr/>
        </p:nvSpPr>
        <p:spPr>
          <a:xfrm>
            <a:off x="8218056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/>
              <a:t>気温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6BD2E2-42A0-9005-6A92-F5D83C1FDAFD}"/>
              </a:ext>
            </a:extLst>
          </p:cNvPr>
          <p:cNvSpPr txBox="1"/>
          <p:nvPr/>
        </p:nvSpPr>
        <p:spPr>
          <a:xfrm>
            <a:off x="9060874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/>
              <a:t>湿度</a:t>
            </a:r>
            <a:endParaRPr kumimoji="1" lang="ja-JP" altLang="en-US" sz="1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88DD36-AC53-7F37-D101-95A9EB820784}"/>
              </a:ext>
            </a:extLst>
          </p:cNvPr>
          <p:cNvSpPr txBox="1"/>
          <p:nvPr/>
        </p:nvSpPr>
        <p:spPr>
          <a:xfrm>
            <a:off x="9903692" y="698864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b="1" dirty="0"/>
              <a:t>気圧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1B2589-CA6C-B8D2-F8D4-9707F7728886}"/>
              </a:ext>
            </a:extLst>
          </p:cNvPr>
          <p:cNvSpPr txBox="1"/>
          <p:nvPr/>
        </p:nvSpPr>
        <p:spPr>
          <a:xfrm>
            <a:off x="10746510" y="698741"/>
            <a:ext cx="6788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b="1" dirty="0">
                <a:solidFill>
                  <a:srgbClr val="00B0F0"/>
                </a:solidFill>
              </a:rPr>
              <a:t>設定</a:t>
            </a:r>
            <a:endParaRPr kumimoji="1" lang="ja-JP" altLang="en-US" sz="1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57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741</Words>
  <Application>Microsoft Office PowerPoint</Application>
  <PresentationFormat>ワイド画面</PresentationFormat>
  <Paragraphs>465</Paragraphs>
  <Slides>9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室内環境測定アプリ 画面仕様書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陽登 深井</dc:creator>
  <cp:lastModifiedBy>陽登 深井</cp:lastModifiedBy>
  <cp:revision>57</cp:revision>
  <dcterms:created xsi:type="dcterms:W3CDTF">2026-05-31T04:18:59Z</dcterms:created>
  <dcterms:modified xsi:type="dcterms:W3CDTF">2026-06-02T02:51:54Z</dcterms:modified>
</cp:coreProperties>
</file>